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91440" cy="65836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FC2D2"/>
                </a:solidFill>
                <a:latin typeface="Microsoft YaHei"/>
                <a:ea typeface="Microsoft YaHei"/>
              </a:rPr>
              <a:t>腾讯犀牛鸟精英培养计划 · C3 课题  |  结项汇报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149E8C"/>
                </a:solidFill>
                <a:latin typeface="Microsoft YaHei"/>
                <a:ea typeface="Microsoft YaHei"/>
              </a:rPr>
              <a:t>V-PEFT</a:t>
            </a: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</a:rPr>
              <a:t>  × 小样本工业缺陷检测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306324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D8E2EA"/>
                </a:solidFill>
                <a:latin typeface="Microsoft YaHei"/>
                <a:ea typeface="Microsoft YaHei"/>
              </a:rPr>
              <a:t>以 4.15% 的可训参数逼近全量微调——差距与稳定性边界的 3-seed 受控测量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4343400"/>
            <a:ext cx="2671572" cy="310896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4343400"/>
            <a:ext cx="26715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8E2EA"/>
                </a:solidFill>
                <a:latin typeface="Microsoft YaHei"/>
                <a:ea typeface="Microsoft YaHei"/>
              </a:rPr>
              <a:t>YOLO-Master EsMoE-N · 全参 2.8M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0524" y="4343400"/>
            <a:ext cx="2216150" cy="310896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0524" y="4343400"/>
            <a:ext cx="22161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8E2EA"/>
                </a:solidFill>
                <a:latin typeface="Microsoft YaHei"/>
                <a:ea typeface="Microsoft YaHei"/>
              </a:rPr>
              <a:t>NEU-DET 1800 张 · DeepPCB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4418" y="4343400"/>
            <a:ext cx="2082037" cy="310896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4418" y="4343400"/>
            <a:ext cx="208203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8E2EA"/>
                </a:solidFill>
                <a:latin typeface="Microsoft YaHei"/>
                <a:ea typeface="Microsoft YaHei"/>
              </a:rPr>
              <a:t>3 策略 × 3 seed × 同预算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4199" y="4343400"/>
            <a:ext cx="2146300" cy="310896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4199" y="4343400"/>
            <a:ext cx="21463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8E2EA"/>
                </a:solidFill>
                <a:latin typeface="Microsoft YaHei"/>
                <a:ea typeface="Microsoft YaHei"/>
              </a:rPr>
              <a:t>21 训练单元 · 全部 exit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3B5"/>
                </a:solidFill>
                <a:latin typeface="Microsoft YaHei"/>
                <a:ea typeface="Microsoft YaHei"/>
              </a:rPr>
              <a:t>stage1→5 全链路证据 · 逐 PR 可评审 · reproduction/ 一键复现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126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3B5"/>
                </a:solidFill>
                <a:latin typeface="Microsoft YaHei"/>
                <a:ea typeface="Microsoft YaHei"/>
              </a:rPr>
              <a:t>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01 · 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先定一场“没有借口的对照”：同预算、3 seed、唯一变量 = 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6903720" cy="1755648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6E62"/>
                </a:solidFill>
                <a:latin typeface="Microsoft YaHei"/>
                <a:ea typeface="Microsoft YaHei"/>
              </a:rPr>
              <a:t>要回答的问题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82496"/>
            <a:ext cx="64008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222E"/>
                </a:solidFill>
                <a:latin typeface="Microsoft YaHei"/>
                <a:ea typeface="Microsoft YaHei"/>
              </a:rPr>
              <a:t>同等训练预算下，</a:t>
            </a:r>
            <a:r>
              <a:rPr sz="1350" b="1" i="0">
                <a:solidFill>
                  <a:srgbClr val="149E8C"/>
                </a:solidFill>
                <a:latin typeface="Microsoft YaHei"/>
                <a:ea typeface="Microsoft YaHei"/>
              </a:rPr>
              <a:t>V-PEFT</a:t>
            </a:r>
            <a:r>
              <a:rPr sz="1350" b="0" i="0">
                <a:solidFill>
                  <a:srgbClr val="14222E"/>
                </a:solidFill>
                <a:latin typeface="Microsoft YaHei"/>
                <a:ea typeface="Microsoft YaHei"/>
              </a:rPr>
              <a:t>(LoRA + planner 自动放置) vs “全量微调 / 冻结主干”——在 2.8M 小模型 + 小样本工业缺陷数据上，精度守住多少、代价几何？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6903720" cy="2999232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5526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4B63"/>
                </a:solidFill>
                <a:latin typeface="Microsoft YaHei"/>
                <a:ea typeface="Microsoft YaHei"/>
              </a:rPr>
              <a:t>公平协议（怎么保证结论不是器材或运气）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39312"/>
            <a:ext cx="6309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唯一变量 = 策略：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同预算 epochs=100 · batch=8 · imgsz=640 · amp=false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97096"/>
            <a:ext cx="6309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不只信一个 seed：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seed 824/2024/777 各 3 个；另加 3 个补充单元做稳定性/确定性验证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6309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指标口径防误导：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best-mAP50(取各 epoch 最优, 非末行) · 显存取日志峰值 · 时长/单元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12664"/>
            <a:ext cx="6309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执行可中断可审计：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done 标记 + resume, 8×A800 共享排队, 21/21 exit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98448"/>
            <a:ext cx="3913632" cy="15727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298448"/>
            <a:ext cx="128016" cy="1572768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1426464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22E"/>
                </a:solidFill>
                <a:latin typeface="Microsoft YaHei"/>
                <a:ea typeface="Microsoft YaHei"/>
              </a:rPr>
              <a:t>full_sft</a:t>
            </a:r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   全量微调(基线)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10512"/>
            <a:ext cx="33101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4B63"/>
                </a:solidFill>
                <a:latin typeface="Microsoft YaHei"/>
                <a:ea typeface="Microsoft YaHei"/>
              </a:rPr>
              <a:t>2,813,626 可训(100%), 整网反传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916936"/>
            <a:ext cx="3913632" cy="15727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2916936"/>
            <a:ext cx="128016" cy="157276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3044952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22E"/>
                </a:solidFill>
                <a:latin typeface="Microsoft YaHei"/>
                <a:ea typeface="Microsoft YaHei"/>
              </a:rPr>
              <a:t>vpeft</a:t>
            </a:r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   V-PEFT + 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429000"/>
            <a:ext cx="33101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adapter 116,736(4.15%); +解冻 head 465,250(16.5%)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535424"/>
            <a:ext cx="3913632" cy="15727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4535424"/>
            <a:ext cx="128016" cy="157276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4663440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22E"/>
                </a:solidFill>
                <a:latin typeface="Microsoft YaHei"/>
                <a:ea typeface="Microsoft YaHei"/>
              </a:rPr>
              <a:t>frozen_backbone</a:t>
            </a:r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   freeze=11 冻结主干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5047488"/>
            <a:ext cx="33101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</a:rPr>
              <a:t>1,906,822 可训(67.8%)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85216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7B87"/>
                </a:solidFill>
                <a:latin typeface="Microsoft YaHei"/>
                <a:ea typeface="Microsoft YaHei"/>
              </a:rPr>
              <a:t>训练数据: 每(策略×seed)使用相同 k=10 全量子集(184 张), 唯一差异=可训练范围与放法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stage1_env_data/README + stage3_matrix/matrix.json(21 单元定义)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02 · 答案轮廓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预算相同 → 参数省 95.8%、精度只低 ~0.07(NEU)/~0.11(PCB)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6949440" cy="3282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/>
                <a:gridCol w="1143000"/>
                <a:gridCol w="1554480"/>
                <a:gridCol w="237744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数据集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策略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mAP50 mean±sd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seed 明细(best)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相对 full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E4B63"/>
                          </a:solidFill>
                          <a:latin typeface="Microsoft YaHei"/>
                          <a:ea typeface="Microsoft YaHei"/>
                        </a:rPr>
                        <a:t>full_sft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0.767 ± 0.014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0.752 / 0.780 / 0.768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9E8C"/>
                          </a:solidFill>
                          <a:latin typeface="Microsoft YaHei"/>
                          <a:ea typeface="Microsoft YaHei"/>
                        </a:rPr>
                        <a:t>vpeft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0.694 ± 0.052*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0.691 / 0.369⚠ / 0.746 / 0.644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−0.073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frozen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0.694 ± 0.041*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0.685 / 0.210⚠ / 0.659 / 0.739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−0.073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PCB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E4B63"/>
                          </a:solidFill>
                          <a:latin typeface="Microsoft YaHei"/>
                          <a:ea typeface="Microsoft YaHei"/>
                        </a:rPr>
                        <a:t>full_sft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0.989 ± 0.001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0.989 / 0.989 / 0.990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PCB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9E8C"/>
                          </a:solidFill>
                          <a:latin typeface="Microsoft YaHei"/>
                          <a:ea typeface="Microsoft YaHei"/>
                        </a:rPr>
                        <a:t>vpeft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0.881 ± 0.072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0.864 / 0.819 / 0.961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−0.108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PCB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frozen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0.769 ± 0.151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0.639⚠ / 0.891 / 0.907 / 0.639⚠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−0.220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09159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7B87"/>
                </a:solidFill>
                <a:latin typeface="Microsoft YaHei"/>
                <a:ea typeface="Microsoft YaHei"/>
              </a:rPr>
              <a:t>* NEU vpeft/frozen 为稳健口径(剔除 1 个偶发 seed, n=3; 全 4-seed 均值 0.612/0.573)</a:t>
            </a:r>
          </a:p>
          <a:p>
            <a:pPr algn="l"/>
            <a:r>
              <a:rPr sz="950" b="0" i="0">
                <a:solidFill>
                  <a:srgbClr val="6E7B87"/>
                </a:solidFill>
                <a:latin typeface="Microsoft YaHei"/>
                <a:ea typeface="Microsoft YaHei"/>
              </a:rPr>
              <a:t>⚠ = 收敛异常(seed 偶发或确定性动力学, 详见第 5 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298448"/>
            <a:ext cx="4005072" cy="47548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463040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4B63"/>
                </a:solidFill>
                <a:latin typeface="Microsoft YaHei"/>
                <a:ea typeface="Microsoft YaHei"/>
              </a:rPr>
              <a:t>“省下来的钱”长什么样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02082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49E8C"/>
                </a:solidFill>
                <a:latin typeface="Microsoft YaHei"/>
                <a:ea typeface="Microsoft YaHei"/>
              </a:rPr>
              <a:t>−95.8%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834639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可训参数: 2.81M → 0.117M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39242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E8B63"/>
                </a:solidFill>
                <a:latin typeface="Microsoft YaHei"/>
                <a:ea typeface="Microsoft YaHei"/>
              </a:rPr>
              <a:t>−1.2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206240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峰值显存: 5.3G → 4.2G (A800)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76402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6E7B87"/>
                </a:solidFill>
                <a:latin typeface="Microsoft YaHei"/>
                <a:ea typeface="Microsoft YaHei"/>
              </a:rPr>
              <a:t>≈ 持平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577840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时长/单元(数据管线为瓶颈)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stage4_analysis/README.md 表 1-3 + comparison_tables.md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03 · 发现①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性价比成立: 参数降 95.8%、显存省 1.2G, 精度代价在十分位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NEU-DET · mAP50(best, 稳健口径, n=3)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66160"/>
            <a:ext cx="5029200" cy="11887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956560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346960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6988" y="2007616"/>
            <a:ext cx="771144" cy="1558544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988" y="2035047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0.767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387705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full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3387" y="2155952"/>
            <a:ext cx="771144" cy="141020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3387" y="2183384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0.694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87705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vpeft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9788" y="2155952"/>
            <a:ext cx="771144" cy="141020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9788" y="2183384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0.694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5280" y="387705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frozen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DeepPCB · mAP50(best, 3 seed)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0448"/>
            <a:ext cx="5029200" cy="11887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5437632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004816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6988" y="4703025"/>
            <a:ext cx="771144" cy="1167422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6988" y="4730457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0.989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80" y="61813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full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23387" y="4830509"/>
            <a:ext cx="771144" cy="103993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3387" y="485794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0.881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61813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vpeft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9788" y="4962714"/>
            <a:ext cx="771144" cy="907733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9788" y="4990146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0.769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5280" y="61813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frozen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1371600"/>
            <a:ext cx="5715000" cy="484632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57276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4B63"/>
                </a:solidFill>
                <a:latin typeface="Microsoft YaHei"/>
                <a:ea typeface="Microsoft YaHei"/>
              </a:rPr>
              <a:t>读法(逐项检验)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011680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4B63"/>
                </a:solidFill>
                <a:latin typeface="Microsoft YaHei"/>
                <a:ea typeface="Microsoft YaHei"/>
              </a:rPr>
              <a:t>① 参数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adapter 只占 4.15%(116,736/2.81M), 为最低约束档; 精度反而高于同预算的冻结(NEU 稳健口径持平, PCB 高 0.11)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52928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② 精度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NEU 差 −0.07; PCB 差 −0.11 —— 都在 0.1 以内, 且 PCB 全量已趋饱和(0.989), 压差空间本就小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694176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8B63"/>
                </a:solidFill>
                <a:latin typeface="Microsoft YaHei"/>
                <a:ea typeface="Microsoft YaHei"/>
              </a:rPr>
              <a:t>③ 显存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峰值 −1.2G(4.2G vs 5.3G), 主要省在冻结 Backbone 梯度; 边缘部署若以显存为约束则红利直接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535424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D98A2B"/>
                </a:solidFill>
                <a:latin typeface="Microsoft YaHei"/>
                <a:ea typeface="Microsoft YaHei"/>
              </a:rPr>
              <a:t>④ 时长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约持平: 瓶颈是数据管线而非反传, 小模型红利未兑现 —— 报告如实记录, 不把“快”当卖点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376672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D54B3F"/>
                </a:solidFill>
                <a:latin typeface="Microsoft YaHei"/>
                <a:ea typeface="Microsoft YaHei"/>
              </a:rPr>
              <a:t>⑤ 代价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代价不是参数而是稳定性(seed 偶发), 见下一页 —— 这是取舍的真正位置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stage3_matrix/runs/*/summary.json + stage4/README.md 表 2(配对差)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04 · 发现②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稳定性是隐藏的第三维度: 全量全稳, vpeft/frozen 各有 1/4 seed 收敛异常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6035040" cy="393192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NEU-DET 逐 seed 分布(best mAP50, 越靠右越好)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4B63"/>
                </a:solidFill>
                <a:latin typeface="Microsoft YaHei"/>
                <a:ea typeface="Microsoft YaHei"/>
              </a:rPr>
              <a:t>full_sft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6544" y="1915667"/>
            <a:ext cx="100584" cy="100584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15940" y="1915667"/>
            <a:ext cx="100584" cy="100584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56199" y="1915667"/>
            <a:ext cx="100584" cy="100584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65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529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vpeft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72862" y="2802636"/>
            <a:ext cx="100584" cy="100584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9817" y="2802636"/>
            <a:ext cx="100584" cy="100584"/>
          </a:xfrm>
          <a:prstGeom prst="rect">
            <a:avLst/>
          </a:prstGeom>
          <a:solidFill>
            <a:srgbClr val="D5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6674" y="2802636"/>
            <a:ext cx="100584" cy="100584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8877" y="2802636"/>
            <a:ext cx="100584" cy="100584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85292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39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</a:rPr>
              <a:t>frozen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2992" y="3689604"/>
            <a:ext cx="100584" cy="10058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78252" y="3689604"/>
            <a:ext cx="100584" cy="100584"/>
          </a:xfrm>
          <a:prstGeom prst="rect">
            <a:avLst/>
          </a:prstGeom>
          <a:solidFill>
            <a:srgbClr val="D5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3553" y="3689604"/>
            <a:ext cx="100584" cy="10058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1825" y="3689604"/>
            <a:ext cx="100584" cy="10058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73989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4389119"/>
            <a:ext cx="4480560" cy="10972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4443983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44398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44398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D54B3F"/>
                </a:solidFill>
                <a:latin typeface="Microsoft YaHei"/>
                <a:ea typeface="Microsoft YaHei"/>
              </a:rPr>
              <a:t>● 红 = 收敛异常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358384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22E"/>
                </a:solidFill>
                <a:latin typeface="Microsoft YaHei"/>
                <a:ea typeface="Microsoft YaHei"/>
              </a:rPr>
              <a:t>全口径 sd: </a:t>
            </a:r>
            <a:r>
              <a:rPr sz="1200" b="0" i="0">
                <a:solidFill>
                  <a:srgbClr val="14222E"/>
                </a:solidFill>
                <a:latin typeface="Microsoft YaHei"/>
                <a:ea typeface="Microsoft YaHei"/>
              </a:rPr>
              <a:t>full 0.014  |  vpeft 0.167  |  frozen 0.245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剔除 1 个偶发 seed 后: vpeft/frozen sd ≈ 0.04-0.05 —— 异常是“全有或全无”式的坏 seed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1280160"/>
            <a:ext cx="4937760" cy="484632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14447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验证实验(3 个补充单元, 全 exit 0)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022592" y="1828800"/>
          <a:ext cx="44348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41732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补充单元</a:t>
                      </a:r>
                    </a:p>
                  </a:txBody>
                  <a:tcPr marL="45720" marR="45720" marT="9144" marB="9144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结果(best)</a:t>
                      </a:r>
                    </a:p>
                  </a:txBody>
                  <a:tcPr marL="45720" marR="45720" marT="9144" marB="9144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</a:p>
                  </a:txBody>
                  <a:tcPr marL="45720" marR="45720" marT="9144" marB="9144" anchor="ctr">
                    <a:solidFill>
                      <a:srgbClr val="1422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neu_vpeft_s2025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0.644  正常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s2024 停滞 = seed 偶发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neu_frozen_s2025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0.739  正常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s2024 卡死 = seed 偶发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pcb_frozen_s824b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0.639@ep9 = s824 重跑逐一致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震荡 = 确定性动力学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022592" y="3977639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D54B3F"/>
                </a:solidFill>
                <a:latin typeface="Microsoft YaHei"/>
                <a:ea typeface="Microsoft YaHei"/>
              </a:rPr>
              <a:t>一句话: </a:t>
            </a:r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参数高效/冻结法的“坏 seed”是真实风险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NEU 偶发率 ~1/4(各 1 例), 已由新 seed 验证为 seed 特异而非系统性失效;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PCB frozen@seed824 的震荡(高点落在 ep9)同 seed 重跑逐一致 → 是该 (seed, 冻结配置) 的训练动力学事实, 非采样噪声。</a:t>
            </a:r>
          </a:p>
          <a:p>
            <a:pPr algn="l"/>
            <a:r>
              <a:rPr sz="1100" b="1" i="0">
                <a:solidFill>
                  <a:srgbClr val="D54B3F"/>
                </a:solidFill>
                <a:latin typeface="Microsoft YaHei"/>
                <a:ea typeface="Microsoft YaHei"/>
              </a:rPr>
              <a:t>→ 单 seed 结论在参数高效法上不可信; 稳定性本身应作为报告维度。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stage3_matrix/README(补充单元表) + runs/*/train/*/results.csv 曲线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05 · 发现③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Planner 可审计: 6/6 ACCEPT、决策跨 seed/数据稳定、护栏与缺陷如实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4572000" cy="4846320"/>
          </a:xfrm>
          <a:prstGeom prst="roundRect">
            <a:avLst>
              <a:gd name="adj" fmla="val 6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FC2D2"/>
                </a:solidFill>
                <a:latin typeface="Microsoft YaHei"/>
                <a:ea typeface="Microsoft YaHei"/>
              </a:rPr>
              <a:t>PLACEMENT · 6 个 vpeft 单元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36210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49E8C"/>
                </a:solidFill>
                <a:latin typeface="Microsoft YaHei"/>
                <a:ea typeface="Microsoft YaHei"/>
              </a:rPr>
              <a:t>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88920"/>
            <a:ext cx="36210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ACCEPT(无 ADAPT/REFUSE)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45536"/>
            <a:ext cx="3621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7B87"/>
                </a:solidFill>
                <a:latin typeface="Microsoft YaHei"/>
                <a:ea typeface="Microsoft YaHei"/>
              </a:rPr>
              <a:t>planner 每次给出可用放置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AFC2D2"/>
                </a:solidFill>
                <a:latin typeface="Microsoft YaHei"/>
                <a:ea typeface="Microsoft YaHei"/>
              </a:rPr>
              <a:t>每单元一致决策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85615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89534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81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611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FC2D2"/>
                </a:solidFill>
                <a:latin typeface="Microsoft YaHei"/>
                <a:ea typeface="Microsoft YaHei"/>
              </a:rPr>
              <a:t>非头层放置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3785615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389534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rank =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42611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FC2D2"/>
                </a:solidFill>
                <a:latin typeface="Microsoft YaHei"/>
                <a:ea typeface="Microsoft YaHei"/>
              </a:rPr>
              <a:t>base rank 不升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9145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90118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adapter 116,736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26694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FC2D2"/>
                </a:solidFill>
                <a:latin typeface="Microsoft YaHei"/>
                <a:ea typeface="Microsoft YaHei"/>
              </a:rPr>
              <a:t>4.15% 全参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479145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16352" y="490118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465,250 有效可训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526694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FC2D2"/>
                </a:solidFill>
                <a:latin typeface="Microsoft YaHei"/>
                <a:ea typeface="Microsoft YaHei"/>
              </a:rPr>
              <a:t>含 mismatch 解冻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1280160"/>
            <a:ext cx="6309360" cy="484632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148132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4B63"/>
                </a:solidFill>
                <a:latin typeface="Microsoft YaHei"/>
                <a:ea typeface="Microsoft YaHei"/>
              </a:rPr>
              <a:t>审计点 / 护栏(逐项可复核)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93852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4B63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2E4B63"/>
                </a:solidFill>
                <a:latin typeface="Microsoft YaHei"/>
                <a:ea typeface="Microsoft YaHei"/>
              </a:rPr>
              <a:t>ACCEPT 的语义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状态与 predicted Δ 进入 audit; vpeft 接受后 legacy planner 显式跳过(ao/dco/mip 被接管)——日志 [V-PEFT] selected … ranks= 行可 grep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76148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22E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类别 mismatch(80→6)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检测头重初始化并解冻 → vpeft 有效可训 465,250(16.5%), 报告不混同 adapter 口径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58444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8B63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2E8B63"/>
                </a:solidFill>
                <a:latin typeface="Microsoft YaHei"/>
                <a:ea typeface="Microsoft YaHei"/>
              </a:rPr>
              <a:t>strict=True 不降级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任何异常直接 raise(失败即报错), 证据链干净; 未静默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40740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8B63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2E8B63"/>
                </a:solidFill>
                <a:latin typeface="Microsoft YaHei"/>
                <a:ea typeface="Microsoft YaHei"/>
              </a:rPr>
              <a:t>缺陷已修 cap&lt;8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0.conv/routing_network.2/dfl.conv 容量 &lt; 最小候选 rank(4): 原先求解器放行 → plan 校验抛错 → V-PEFT 静默降级 legacy; 已提修复 PR(C_cap 硬约束 + capacity_excluded 审计), 本报告数据仍是 exclude 规避口径未重跑 → 链接见末页①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23036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7B87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6E7B87"/>
                </a:solidFill>
                <a:latin typeface="Microsoft YaHei"/>
                <a:ea typeface="Microsoft YaHei"/>
              </a:rPr>
              <a:t>LOVO / ΔmAP 口径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回归护栏系数与 REFUSE 阈值(−0.05)在源码; 实测 Δ 与 predicted_delta 对应关系记入 stage4/p2 笔记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stage3 runs 日志 + stage4/planner_audit_summary.md + stage2/planner_solver_notes.md §3/§5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06 · 怎么选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按约束选策略: 显存/部署受限→vpeft; 要最高最稳精度→full; 冻结不划算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11880" cy="82296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5727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场景 A · 显存 / 边缘受限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8470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49E8C"/>
                </a:solidFill>
                <a:latin typeface="Microsoft YaHei"/>
                <a:ea typeface="Microsoft YaHei"/>
              </a:rPr>
              <a:t>选 vpeft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395728"/>
            <a:ext cx="31363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222E"/>
                </a:solidFill>
                <a:latin typeface="Microsoft YaHei"/>
                <a:ea typeface="Microsoft YaHei"/>
              </a:rPr>
              <a:t>理由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4.15% 参数 + 4.2G 峰值显存即达 full 九成以上精度(Δ ≤ 0.11); planner 零调参自动放置。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480560"/>
            <a:ext cx="3136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54B3F"/>
                </a:solidFill>
                <a:latin typeface="Microsoft YaHei"/>
                <a:ea typeface="Microsoft YaHei"/>
              </a:rPr>
              <a:t>注意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避免: 精度敏感且无力复跑 seed 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11880" cy="82296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5727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场景 B · 算力充足 · 要最稳精度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470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2E4B63"/>
                </a:solidFill>
                <a:latin typeface="Microsoft YaHei"/>
                <a:ea typeface="Microsoft YaHei"/>
              </a:rPr>
              <a:t>选 full_sft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395728"/>
            <a:ext cx="31363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222E"/>
                </a:solidFill>
                <a:latin typeface="Microsoft YaHei"/>
                <a:ea typeface="Microsoft YaHei"/>
              </a:rPr>
              <a:t>理由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NEU/PCB 均最优且三 seed 零异常(sd ≤ 0.014); 免去坏 seed 排查成本。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4480560"/>
            <a:ext cx="3136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54B3F"/>
                </a:solidFill>
                <a:latin typeface="Microsoft YaHei"/>
                <a:ea typeface="Microsoft YaHei"/>
              </a:rPr>
              <a:t>注意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代价: 显存多 1.2G, 参数 2.81M 全反传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7160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3611880" cy="82296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15727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场景 C · 少调参的“冻结”方案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18470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98A2B"/>
                </a:solidFill>
                <a:latin typeface="Microsoft YaHei"/>
                <a:ea typeface="Microsoft YaHei"/>
              </a:rPr>
              <a:t>不太推荐 frozen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395728"/>
            <a:ext cx="31363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222E"/>
                </a:solidFill>
                <a:latin typeface="Microsoft YaHei"/>
                <a:ea typeface="Microsoft YaHei"/>
              </a:rPr>
              <a:t>理由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可训参数只省 32%(67.8% 仍在训)却引入 seed 偶发与确定性震荡(PCB@824)。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4480560"/>
            <a:ext cx="3136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54B3F"/>
                </a:solidFill>
                <a:latin typeface="Microsoft YaHei"/>
                <a:ea typeface="Microsoft YaHei"/>
              </a:rPr>
              <a:t>注意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除非工具链强制冻结接口, 否则无性价比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22E"/>
                </a:solidFill>
                <a:latin typeface="Microsoft YaHei"/>
                <a:ea typeface="Microsoft YaHei"/>
              </a:rPr>
              <a:t>判定依据: </a:t>
            </a:r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stage4/README.md 表 1-2(mean/sd/配对差) · 表 3(参数/显存/时长) · 稳健口径定义见同文件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stage4_analysis/README.md(结论判读节)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07 · 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每条结论都给了评审一条可查证的路径(文件/git/复现包)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704088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2834640"/>
                <a:gridCol w="228600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</a:p>
                  </a:txBody>
                  <a:tcPr marL="64008" marR="54864" marT="10972" marB="10972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证据文件(均已入库)</a:t>
                      </a:r>
                    </a:p>
                  </a:txBody>
                  <a:tcPr marL="64008" marR="54864" marT="10972" marB="10972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marL="64008" marR="54864" marT="10972" marB="10972" anchor="ctr">
                    <a:solidFill>
                      <a:srgbClr val="14222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精度与稳定性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stage3_matrix/evidence_summary.csv · runs/*/results.csv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21 单元 best-mAP50 + 逐 epoch 曲线 + 显存峰值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统计(mean/sd/CI/配对差)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stage4_analysis/comparison_tables.md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3-seed 统计 + 稳健口径 + 四维表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Planner 审计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stage4_analysis/planner_audit_summary.md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ACCEPT 分布 / 护栏 / ΔmAP 口径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许可 / SHA / 环境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stage1_env_data/README.md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NEU-DET/DeepPCB 来源与哈希留档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复现一键组装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stage5_pr_delivery/reproduction/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命令样例 · paths.env · 数据转换脚本 · 统计表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缺陷修复(PR)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分支 fix/vpeft-capacity-guard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C_cap 容量硬约束 + capacity_excluded 审计 + 未适配层冻结(2 commit · 链接见末页①)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325880"/>
            <a:ext cx="3886200" cy="2194560"/>
          </a:xfrm>
          <a:prstGeom prst="roundRect">
            <a:avLst>
              <a:gd name="adj" fmla="val 6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FC2D2"/>
                </a:solidFill>
                <a:latin typeface="Microsoft YaHei"/>
                <a:ea typeface="Microsoft YaHei"/>
              </a:rPr>
              <a:t>GIT · 8 本地 commit(逐 PR 四节)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stage1 env+data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5798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stage2 server smoke (BF-01 修复)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871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stage3 matrix + 21 单元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8163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stage4 stats +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1455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stage5 复现包 + 报告 + PPT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703320"/>
            <a:ext cx="3886200" cy="242316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886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4B63"/>
                </a:solidFill>
                <a:latin typeface="Microsoft YaHei"/>
                <a:ea typeface="Microsoft YaHei"/>
              </a:rPr>
              <a:t>一键复现路径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2062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22E"/>
                </a:solidFill>
                <a:latin typeface="Microsoft YaHei"/>
                <a:ea typeface="Microsoft YaHei"/>
              </a:rPr>
              <a:t>python stage5/assemble_reproduction.py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634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22E"/>
                </a:solidFill>
                <a:latin typeface="Microsoft YaHei"/>
                <a:ea typeface="Microsoft YaHei"/>
              </a:rPr>
              <a:t>→ reproduction/(命令/脚本/env/统计)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1206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22E"/>
                </a:solidFill>
                <a:latin typeface="Microsoft YaHei"/>
                <a:ea typeface="Microsoft YaHei"/>
              </a:rPr>
              <a:t>三策略命令样例 → 修改 seed/device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5778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22E"/>
                </a:solidFill>
                <a:latin typeface="Microsoft YaHei"/>
                <a:ea typeface="Microsoft YaHei"/>
              </a:rPr>
              <a:t>补充单元: run_supplement.py 自愈调度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git ls-files c3_work/ 全量证据 + stage5_pr_delivery/reproduction/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08 · 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边界声明: 这些数字为什么不能外推太远(评审先看这里)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5389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样本量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53896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n = 3-4 seed, CI 宽(±0.23~0.34 全口径); 偶发率 ~1/4 仅作警示, 不推总概率。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157276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04288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04288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8658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模型规模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86584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EsMoE-N 全参仅 2.8M: LoRA 相对全量的参数优势被小基数压缩; 结论不必然迁移到更大模型。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2505456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36976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36976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192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数据域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19272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两数据集(工业表面/PCB 缺陷), 分辨率与类别数有限; NEU-DET 镜像无显式 LICENSE(SHA-256 留档)。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343814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69664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69664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预算形态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251960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同 epochs 预算下时长持平(数据管线瓶颈); 若改为“同 wall-clock”预算, 结论排序可能变化, 未测。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43708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02352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102352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846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策略实现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184648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vpeft=当前 planner(rank 8/ao solver); frozen=freeze=11 单档, 未扫冻结深度。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53035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899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</a:rPr>
              <a:t>凡涉及外推(其他数据/更大模型/其他预算定义)均须重测; 本包已备好重测工具链。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stage5/report_final.md §4 局限 与 stage4/README 口径红线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FA3B5"/>
                </a:solidFill>
                <a:latin typeface="Microsoft YaHei"/>
                <a:ea typeface="Microsoft YaHei"/>
              </a:rPr>
              <a:t>一句话带走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10642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V-PEFT 在 2.8M 小模型上的答案: </a:t>
            </a:r>
          </a:p>
          <a:p>
            <a:pPr algn="l"/>
            <a:r>
              <a:rPr sz="2400" b="1" i="0">
                <a:solidFill>
                  <a:srgbClr val="149E8C"/>
                </a:solidFill>
                <a:latin typeface="Microsoft YaHei"/>
                <a:ea typeface="Microsoft YaHei"/>
              </a:rPr>
              <a:t>“低参数 / 低显存拿九成精度 —— 代价写进了 seed 分布里”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2140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FC2D2"/>
                </a:solidFill>
                <a:latin typeface="Microsoft YaHei"/>
                <a:ea typeface="Microsoft YaHei"/>
              </a:rPr>
              <a:t>三策略一句话结论(完整对照见 stage4)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3566160" cy="64008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full_sft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E4B63"/>
                </a:solidFill>
                <a:latin typeface="Microsoft YaHei"/>
                <a:ea typeface="Microsoft YaHei"/>
              </a:rPr>
              <a:t>0.767 / 0.989  |  sd ≤ 0.014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最高且最稳的基线; 要精度就选它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606040"/>
            <a:ext cx="3566160" cy="6400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vpeft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9E8C"/>
                </a:solidFill>
                <a:latin typeface="Microsoft YaHei"/>
                <a:ea typeface="Microsoft YaHei"/>
              </a:rPr>
              <a:t>0.694* / 0.881  |  4.15% 参数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118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省 95.8% 参数+1.2G 显存, 接受偶发风险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606040"/>
            <a:ext cx="3566160" cy="6400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frozen_backbone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</a:rPr>
              <a:t>0.694* / 0.769  |  67.8% 可训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6118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省得少还添乱, 不推荐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90288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FC2D2"/>
                </a:solidFill>
                <a:latin typeface="Microsoft YaHei"/>
                <a:ea typeface="Microsoft YaHei"/>
              </a:rPr>
              <a:t>待办 / 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① 修复分支已备  </a:t>
            </a:r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fix/vpeft-capacity-guard(2 commit) → 待 push 并开 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76672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② 证据包  </a:t>
            </a:r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push 本地 commit → fork lycyhrc/YOLO-Master:c3-vpeft-smoke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15584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③ 可选扩展  </a:t>
            </a:r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k=5/10/50/100 档位曲线(数据就绪), GPU 低峰补跑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4480560"/>
            <a:ext cx="4279392" cy="173736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 w="15875">
            <a:solidFill>
              <a:srgbClr val="D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460857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</a:rPr>
              <a:t>交付链接（占位 · 上传后替换）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9926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① 修复 PR  </a:t>
            </a:r>
            <a:r>
              <a:rPr sz="950" b="1" i="0">
                <a:solidFill>
                  <a:srgbClr val="149E8C"/>
                </a:solidFill>
                <a:latin typeface="Microsoft YaHei"/>
                <a:ea typeface="Microsoft YaHei"/>
              </a:rPr>
              <a:t>&lt;&lt;PR_LINK_PLACEHOLDER&gt;&gt;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32180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② 证据附件  </a:t>
            </a:r>
            <a:r>
              <a:rPr sz="950" b="1" i="0">
                <a:solidFill>
                  <a:srgbClr val="149E8C"/>
                </a:solidFill>
                <a:latin typeface="Microsoft YaHei"/>
                <a:ea typeface="Microsoft YaHei"/>
              </a:rPr>
              <a:t>&lt;&lt;EVIDENCE_LINK_PLACEHOLDER&gt;&gt;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74243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8FA3B5"/>
                </a:solidFill>
                <a:latin typeface="Microsoft YaHei"/>
                <a:ea typeface="Microsoft YaHei"/>
              </a:rPr>
              <a:t>把 &lt;&lt;...&gt;&gt; 换成实际链接即可（正文“末页①”指本占位）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276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3B5"/>
                </a:solidFill>
                <a:latin typeface="Microsoft YaHei"/>
                <a:ea typeface="Microsoft YaHei"/>
              </a:rPr>
              <a:t>数字来源: stage3_matrix/runs(21 单元) · stage4_analysis(2026-09-07 定稿) · stage5 交付 2026-09-11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