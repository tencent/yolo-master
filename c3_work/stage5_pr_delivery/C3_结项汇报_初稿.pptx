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828800"/>
            <a:ext cx="85039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F2A44"/>
                </a:solidFill>
              </a:rPr>
              <a:t>C3 实战结项：V-PEFT 小样本工业缺陷检测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3474720"/>
            <a:ext cx="8229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>
                <a:solidFill>
                  <a:srgbClr val="6B7280"/>
                </a:solidFill>
              </a:rPr>
              <a:t>YOLO-Master EsMoE-N × NEU-DET/DeepPCB 三策略同预算 3-seed 对照</a:t>
            </a:r>
          </a:p>
          <a:p>
            <a:r>
              <a:rPr sz="1600">
                <a:solidFill>
                  <a:srgbClr val="6B7280"/>
                </a:solidFill>
              </a:rPr>
              <a:t>阶段证据链: stage1 环境数据 → stage2 服务器化冒烟 → stage3 21 单元矩阵 → stage4 统计审计 → stage5 复现交付</a:t>
            </a:r>
          </a:p>
          <a:p>
            <a:r>
              <a:rPr sz="1600">
                <a:solidFill>
                  <a:srgbClr val="6B7280"/>
                </a:solidFill>
              </a:rPr>
              <a:t>2026-09-07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859536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1F2A44"/>
                </a:solidFill>
              </a:rPr>
              <a:t>目标: 用受控证据回答“V-PEFT 相对全量微调/冻结的性价比”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932688"/>
            <a:ext cx="822960" cy="54864"/>
          </a:xfrm>
          <a:prstGeom prst="rect">
            <a:avLst/>
          </a:prstGeom>
          <a:solidFill>
            <a:srgbClr val="2F80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82296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1F2A44"/>
                </a:solidFill>
              </a:rPr>
              <a:t>• 对比三条参数高效路线(同预算, 三策略唯一变量=策略)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6B7280"/>
                </a:solidFill>
              </a:rPr>
              <a:t>– full_sft(全量微调基线) vs vpeft(V-PEFT+planner 自动放置 LoRA) vs frozen_backbone(freeze=11)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1F2A44"/>
                </a:solidFill>
              </a:rPr>
              <a:t>• 同预算纪律: epochs=100 × batch=8 × imgsz=640 × amp=false; 两数据集 × 3 seed(824/2024/777)+3 补充验证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1F2A44"/>
                </a:solidFill>
              </a:rPr>
              <a:t>• 模型 YOLO-Master-EsMoE-N: 全参 2,813,626(n 尺度, 小模型=参数效率叙事需量化到百分比)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1F2A44"/>
                </a:solidFill>
              </a:rPr>
              <a:t>• 数据: NEU-DET 1800 张/6 类; DeepPCB(6 类), 许可与 SHA-256 见 stage1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1F2A44"/>
                </a:solidFill>
              </a:rPr>
              <a:t>• 执行: 8×A800 共享排队 → 单卡单任务 queue_runner(done 标记断点续跑), 21 单元全部 exit 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859536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1F2A44"/>
                </a:solidFill>
              </a:rPr>
              <a:t>四维结果(主 18 单元 + 3 补充; best-mAP50 口径)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932688"/>
            <a:ext cx="822960" cy="54864"/>
          </a:xfrm>
          <a:prstGeom prst="rect">
            <a:avLst/>
          </a:prstGeom>
          <a:solidFill>
            <a:srgbClr val="2F80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143000"/>
          <a:ext cx="8686797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40971"/>
                <a:gridCol w="1240971"/>
                <a:gridCol w="1240971"/>
                <a:gridCol w="1240971"/>
                <a:gridCol w="1240971"/>
                <a:gridCol w="1240971"/>
                <a:gridCol w="1240971"/>
              </a:tblGrid>
              <a:tr h="600891"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数据集</a:t>
                      </a:r>
                    </a:p>
                  </a:txBody>
                  <a:tcPr marL="54864" marR="54864" marT="18288" marB="18288">
                    <a:solidFill>
                      <a:srgbClr val="1F2A4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策略</a:t>
                      </a:r>
                    </a:p>
                  </a:txBody>
                  <a:tcPr marL="54864" marR="54864" marT="18288" marB="18288">
                    <a:solidFill>
                      <a:srgbClr val="1F2A4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mAP50(seed 明细, best)</a:t>
                      </a:r>
                    </a:p>
                  </a:txBody>
                  <a:tcPr marL="54864" marR="54864" marT="18288" marB="18288">
                    <a:solidFill>
                      <a:srgbClr val="1F2A4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mean±sd</a:t>
                      </a:r>
                    </a:p>
                  </a:txBody>
                  <a:tcPr marL="54864" marR="54864" marT="18288" marB="18288">
                    <a:solidFill>
                      <a:srgbClr val="1F2A4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可训参数</a:t>
                      </a:r>
                    </a:p>
                  </a:txBody>
                  <a:tcPr marL="54864" marR="54864" marT="18288" marB="18288">
                    <a:solidFill>
                      <a:srgbClr val="1F2A4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显存</a:t>
                      </a:r>
                    </a:p>
                  </a:txBody>
                  <a:tcPr marL="54864" marR="54864" marT="18288" marB="18288">
                    <a:solidFill>
                      <a:srgbClr val="1F2A4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时长</a:t>
                      </a:r>
                    </a:p>
                  </a:txBody>
                  <a:tcPr marL="54864" marR="54864" marT="18288" marB="18288">
                    <a:solidFill>
                      <a:srgbClr val="1F2A44"/>
                    </a:solidFill>
                  </a:tcPr>
                </a:tc>
              </a:tr>
              <a:tr h="600891">
                <a:tc>
                  <a:txBody>
                    <a:bodyPr wrap="square"/>
                    <a:lstStyle/>
                    <a:p>
                      <a:pPr algn="ctr"/>
                      <a:r>
                        <a:rPr sz="1100">
                          <a:solidFill>
                            <a:srgbClr val="1F2A44"/>
                          </a:solidFill>
                        </a:rPr>
                        <a:t>NEU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>
                          <a:solidFill>
                            <a:srgbClr val="1F2A44"/>
                          </a:solidFill>
                        </a:rPr>
                        <a:t>full_sft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>
                          <a:solidFill>
                            <a:srgbClr val="1F2A44"/>
                          </a:solidFill>
                        </a:rPr>
                        <a:t>0.752/0.780/0.768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>
                          <a:solidFill>
                            <a:srgbClr val="1F2A44"/>
                          </a:solidFill>
                        </a:rPr>
                        <a:t>0.767±0.014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>
                          <a:solidFill>
                            <a:srgbClr val="1F2A44"/>
                          </a:solidFill>
                        </a:rPr>
                        <a:t>2,813,626 (100%)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>
                          <a:solidFill>
                            <a:srgbClr val="1F2A44"/>
                          </a:solidFill>
                        </a:rPr>
                        <a:t>5.3G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>
                          <a:solidFill>
                            <a:srgbClr val="1F2A44"/>
                          </a:solidFill>
                        </a:rPr>
                        <a:t>55m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600891">
                <a:tc>
                  <a:txBody>
                    <a:bodyPr wrap="square"/>
                    <a:lstStyle/>
                    <a:p>
                      <a:pPr algn="ctr"/>
                      <a:r>
                        <a:rPr sz="1100">
                          <a:solidFill>
                            <a:srgbClr val="1F2A44"/>
                          </a:solidFill>
                        </a:rPr>
                        <a:t>NEU</a:t>
                      </a:r>
                    </a:p>
                  </a:txBody>
                  <a:tcPr marL="54864" marR="54864" marT="18288" marB="18288"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>
                          <a:solidFill>
                            <a:srgbClr val="1F2A44"/>
                          </a:solidFill>
                        </a:rPr>
                        <a:t>vpeft</a:t>
                      </a:r>
                    </a:p>
                  </a:txBody>
                  <a:tcPr marL="54864" marR="54864" marT="18288" marB="18288"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>
                          <a:solidFill>
                            <a:srgbClr val="1F2A44"/>
                          </a:solidFill>
                        </a:rPr>
                        <a:t>0.691/0.369⚠/0.746 (+2025:0.644✓)</a:t>
                      </a:r>
                    </a:p>
                  </a:txBody>
                  <a:tcPr marL="54864" marR="54864" marT="18288" marB="18288"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>
                          <a:solidFill>
                            <a:srgbClr val="1F2A44"/>
                          </a:solidFill>
                        </a:rPr>
                        <a:t>0.694±0.052*</a:t>
                      </a:r>
                    </a:p>
                  </a:txBody>
                  <a:tcPr marL="54864" marR="54864" marT="18288" marB="18288"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>
                          <a:solidFill>
                            <a:srgbClr val="1F2A44"/>
                          </a:solidFill>
                        </a:rPr>
                        <a:t>116,736 (4.15%)</a:t>
                      </a:r>
                    </a:p>
                  </a:txBody>
                  <a:tcPr marL="54864" marR="54864" marT="18288" marB="18288"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>
                          <a:solidFill>
                            <a:srgbClr val="1F2A44"/>
                          </a:solidFill>
                        </a:rPr>
                        <a:t>4.2G</a:t>
                      </a:r>
                    </a:p>
                  </a:txBody>
                  <a:tcPr marL="54864" marR="54864" marT="18288" marB="18288"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>
                          <a:solidFill>
                            <a:srgbClr val="1F2A44"/>
                          </a:solidFill>
                        </a:rPr>
                        <a:t>51m</a:t>
                      </a:r>
                    </a:p>
                  </a:txBody>
                  <a:tcPr marL="54864" marR="54864" marT="18288" marB="18288">
                    <a:solidFill>
                      <a:srgbClr val="F3F5F9"/>
                    </a:solidFill>
                  </a:tcPr>
                </a:tc>
              </a:tr>
              <a:tr h="600891">
                <a:tc>
                  <a:txBody>
                    <a:bodyPr wrap="square"/>
                    <a:lstStyle/>
                    <a:p>
                      <a:pPr algn="ctr"/>
                      <a:r>
                        <a:rPr sz="1100">
                          <a:solidFill>
                            <a:srgbClr val="1F2A44"/>
                          </a:solidFill>
                        </a:rPr>
                        <a:t>NEU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>
                          <a:solidFill>
                            <a:srgbClr val="1F2A44"/>
                          </a:solidFill>
                        </a:rPr>
                        <a:t>frozen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>
                          <a:solidFill>
                            <a:srgbClr val="1F2A44"/>
                          </a:solidFill>
                        </a:rPr>
                        <a:t>0.685/0.210⚠/0.659 (+2025:0.739✓)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>
                          <a:solidFill>
                            <a:srgbClr val="1F2A44"/>
                          </a:solidFill>
                        </a:rPr>
                        <a:t>0.694±0.041*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>
                          <a:solidFill>
                            <a:srgbClr val="1F2A44"/>
                          </a:solidFill>
                        </a:rPr>
                        <a:t>1,906,822 (67.8%)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>
                          <a:solidFill>
                            <a:srgbClr val="1F2A44"/>
                          </a:solidFill>
                        </a:rPr>
                        <a:t>3.7G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>
                          <a:solidFill>
                            <a:srgbClr val="1F2A44"/>
                          </a:solidFill>
                        </a:rPr>
                        <a:t>45m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600891">
                <a:tc>
                  <a:txBody>
                    <a:bodyPr wrap="square"/>
                    <a:lstStyle/>
                    <a:p>
                      <a:pPr algn="ctr"/>
                      <a:r>
                        <a:rPr sz="1100">
                          <a:solidFill>
                            <a:srgbClr val="1F2A44"/>
                          </a:solidFill>
                        </a:rPr>
                        <a:t>PCB</a:t>
                      </a:r>
                    </a:p>
                  </a:txBody>
                  <a:tcPr marL="54864" marR="54864" marT="18288" marB="18288"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>
                          <a:solidFill>
                            <a:srgbClr val="1F2A44"/>
                          </a:solidFill>
                        </a:rPr>
                        <a:t>full_sft</a:t>
                      </a:r>
                    </a:p>
                  </a:txBody>
                  <a:tcPr marL="54864" marR="54864" marT="18288" marB="18288"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>
                          <a:solidFill>
                            <a:srgbClr val="1F2A44"/>
                          </a:solidFill>
                        </a:rPr>
                        <a:t>0.989/0.989/0.990</a:t>
                      </a:r>
                    </a:p>
                  </a:txBody>
                  <a:tcPr marL="54864" marR="54864" marT="18288" marB="18288"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>
                          <a:solidFill>
                            <a:srgbClr val="1F2A44"/>
                          </a:solidFill>
                        </a:rPr>
                        <a:t>0.989±0.001</a:t>
                      </a:r>
                    </a:p>
                  </a:txBody>
                  <a:tcPr marL="54864" marR="54864" marT="18288" marB="18288"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>
                          <a:solidFill>
                            <a:srgbClr val="1F2A44"/>
                          </a:solidFill>
                        </a:rPr>
                        <a:t>2,813,626 (100%)</a:t>
                      </a:r>
                    </a:p>
                  </a:txBody>
                  <a:tcPr marL="54864" marR="54864" marT="18288" marB="18288"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>
                          <a:solidFill>
                            <a:srgbClr val="1F2A44"/>
                          </a:solidFill>
                        </a:rPr>
                        <a:t>5.3G</a:t>
                      </a:r>
                    </a:p>
                  </a:txBody>
                  <a:tcPr marL="54864" marR="54864" marT="18288" marB="18288"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>
                          <a:solidFill>
                            <a:srgbClr val="1F2A44"/>
                          </a:solidFill>
                        </a:rPr>
                        <a:t>46m</a:t>
                      </a:r>
                    </a:p>
                  </a:txBody>
                  <a:tcPr marL="54864" marR="54864" marT="18288" marB="18288">
                    <a:solidFill>
                      <a:srgbClr val="F3F5F9"/>
                    </a:solidFill>
                  </a:tcPr>
                </a:tc>
              </a:tr>
              <a:tr h="600891">
                <a:tc>
                  <a:txBody>
                    <a:bodyPr wrap="square"/>
                    <a:lstStyle/>
                    <a:p>
                      <a:pPr algn="ctr"/>
                      <a:r>
                        <a:rPr sz="1100">
                          <a:solidFill>
                            <a:srgbClr val="1F2A44"/>
                          </a:solidFill>
                        </a:rPr>
                        <a:t>PCB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>
                          <a:solidFill>
                            <a:srgbClr val="1F2A44"/>
                          </a:solidFill>
                        </a:rPr>
                        <a:t>vpeft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>
                          <a:solidFill>
                            <a:srgbClr val="1F2A44"/>
                          </a:solidFill>
                        </a:rPr>
                        <a:t>0.864/0.819/0.961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>
                          <a:solidFill>
                            <a:srgbClr val="1F2A44"/>
                          </a:solidFill>
                        </a:rPr>
                        <a:t>0.881±0.072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>
                          <a:solidFill>
                            <a:srgbClr val="1F2A44"/>
                          </a:solidFill>
                        </a:rPr>
                        <a:t>116,736 (4.15%)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>
                          <a:solidFill>
                            <a:srgbClr val="1F2A44"/>
                          </a:solidFill>
                        </a:rPr>
                        <a:t>4.1G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>
                          <a:solidFill>
                            <a:srgbClr val="1F2A44"/>
                          </a:solidFill>
                        </a:rPr>
                        <a:t>45m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600894">
                <a:tc>
                  <a:txBody>
                    <a:bodyPr wrap="square"/>
                    <a:lstStyle/>
                    <a:p>
                      <a:pPr algn="ctr"/>
                      <a:r>
                        <a:rPr sz="1100">
                          <a:solidFill>
                            <a:srgbClr val="1F2A44"/>
                          </a:solidFill>
                        </a:rPr>
                        <a:t>PCB</a:t>
                      </a:r>
                    </a:p>
                  </a:txBody>
                  <a:tcPr marL="54864" marR="54864" marT="18288" marB="18288"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>
                          <a:solidFill>
                            <a:srgbClr val="1F2A44"/>
                          </a:solidFill>
                        </a:rPr>
                        <a:t>frozen</a:t>
                      </a:r>
                    </a:p>
                  </a:txBody>
                  <a:tcPr marL="54864" marR="54864" marT="18288" marB="18288"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>
                          <a:solidFill>
                            <a:srgbClr val="1F2A44"/>
                          </a:solidFill>
                        </a:rPr>
                        <a:t>0.639⚠/0.891/0.907 (824b 重跑 0.639⚠)</a:t>
                      </a:r>
                    </a:p>
                  </a:txBody>
                  <a:tcPr marL="54864" marR="54864" marT="18288" marB="18288"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>
                          <a:solidFill>
                            <a:srgbClr val="1F2A44"/>
                          </a:solidFill>
                        </a:rPr>
                        <a:t>0.769±0.151</a:t>
                      </a:r>
                    </a:p>
                  </a:txBody>
                  <a:tcPr marL="54864" marR="54864" marT="18288" marB="18288"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>
                          <a:solidFill>
                            <a:srgbClr val="1F2A44"/>
                          </a:solidFill>
                        </a:rPr>
                        <a:t>1,906,822 (67.8%)</a:t>
                      </a:r>
                    </a:p>
                  </a:txBody>
                  <a:tcPr marL="54864" marR="54864" marT="18288" marB="18288"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>
                          <a:solidFill>
                            <a:srgbClr val="1F2A44"/>
                          </a:solidFill>
                        </a:rPr>
                        <a:t>3.7G</a:t>
                      </a:r>
                    </a:p>
                  </a:txBody>
                  <a:tcPr marL="54864" marR="54864" marT="18288" marB="18288"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>
                          <a:solidFill>
                            <a:srgbClr val="1F2A44"/>
                          </a:solidFill>
                        </a:rPr>
                        <a:t>51m</a:t>
                      </a:r>
                    </a:p>
                  </a:txBody>
                  <a:tcPr marL="54864" marR="54864" marT="18288" marB="18288">
                    <a:solidFill>
                      <a:srgbClr val="F3F5F9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5486400"/>
            <a:ext cx="8229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>
                <a:solidFill>
                  <a:srgbClr val="1F2A44"/>
                </a:solidFill>
              </a:rPr>
              <a:t>• *NEU vpeft/frozen 为稳健口径(剔除 1 个偶发 seed, n=3); 主表 3-seed 均值 0.612/0.573。⚠=收敛异常(已验证, 见下)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1F2A44"/>
                </a:solidFill>
              </a:rPr>
              <a:t>• vpeft adapter 仅 4.15% 全参 → NEU 差 ~0.07 / PCB 差 ~0.11 mAP50; 显存 −1.2G; 时长基本持平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859536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1F2A44"/>
                </a:solidFill>
              </a:rPr>
              <a:t>稳定性/确定性验证(补充单元 run_supplement)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932688"/>
            <a:ext cx="822960" cy="54864"/>
          </a:xfrm>
          <a:prstGeom prst="rect">
            <a:avLst/>
          </a:prstGeom>
          <a:solidFill>
            <a:srgbClr val="2F80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143000"/>
          <a:ext cx="868680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71700"/>
                <a:gridCol w="2171700"/>
                <a:gridCol w="2171700"/>
                <a:gridCol w="2171700"/>
              </a:tblGrid>
              <a:tr h="502920"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补充单元</a:t>
                      </a:r>
                    </a:p>
                  </a:txBody>
                  <a:tcPr marL="54864" marR="54864" marT="18288" marB="18288">
                    <a:solidFill>
                      <a:srgbClr val="1F2A4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目的</a:t>
                      </a:r>
                    </a:p>
                  </a:txBody>
                  <a:tcPr marL="54864" marR="54864" marT="18288" marB="18288">
                    <a:solidFill>
                      <a:srgbClr val="1F2A4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结果(best mAP50)</a:t>
                      </a:r>
                    </a:p>
                  </a:txBody>
                  <a:tcPr marL="54864" marR="54864" marT="18288" marB="18288">
                    <a:solidFill>
                      <a:srgbClr val="1F2A4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判定</a:t>
                      </a:r>
                    </a:p>
                  </a:txBody>
                  <a:tcPr marL="54864" marR="54864" marT="18288" marB="18288">
                    <a:solidFill>
                      <a:srgbClr val="1F2A44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neu_vpeft_s2025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检验 s2024 停滞(0.369)是否偶发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0.644 (正常收敛)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seed 偶发 ✓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neu_frozen_s2025</a:t>
                      </a:r>
                    </a:p>
                  </a:txBody>
                  <a:tcPr marL="54864" marR="54864" marT="18288" marB="18288"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检验 s2024 卡死(0.210)是否偶发</a:t>
                      </a:r>
                    </a:p>
                  </a:txBody>
                  <a:tcPr marL="54864" marR="54864" marT="18288" marB="18288"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0.739 (正常收敛)</a:t>
                      </a:r>
                    </a:p>
                  </a:txBody>
                  <a:tcPr marL="54864" marR="54864" marT="18288" marB="18288"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seed 偶发 ✓</a:t>
                      </a:r>
                    </a:p>
                  </a:txBody>
                  <a:tcPr marL="54864" marR="54864" marT="18288" marB="18288">
                    <a:solidFill>
                      <a:srgbClr val="F3F5F9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pcb_frozen_s824b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同 seed 824 重跑验证震荡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0.639@ep9 = s824 完全一致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确定性动力学 ✓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3566160"/>
            <a:ext cx="8229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>
                <a:solidFill>
                  <a:srgbClr val="1F2A44"/>
                </a:solidFill>
              </a:rPr>
              <a:t>• 结论: NEU 上 vpeft/frozen 的 1/4 极端收敛异常属 seed 特异(补跑全正常);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1F2A44"/>
                </a:solidFill>
              </a:rPr>
              <a:t>• PCB frozen@seed824 的震荡(best@ep9=0.639, 末行 0.496)被同 seed 重跑逐一致复现 → 非噪声, 是该(seed,配置)训练动力学的确定性事实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1F2A44"/>
                </a:solidFill>
              </a:rPr>
              <a:t>• → 全量微调 seed 稳健性最好(sd≤0.014), 参数高效/冻结法存在偶发不稳, 已如实进入局限声明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859536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1F2A44"/>
                </a:solidFill>
              </a:rPr>
              <a:t>Planner 审计(6/6 vpeft 单元)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932688"/>
            <a:ext cx="822960" cy="54864"/>
          </a:xfrm>
          <a:prstGeom prst="rect">
            <a:avLst/>
          </a:prstGeom>
          <a:solidFill>
            <a:srgbClr val="2F80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143000"/>
          <a:ext cx="868680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47800"/>
                <a:gridCol w="1447800"/>
                <a:gridCol w="1447800"/>
                <a:gridCol w="1447800"/>
                <a:gridCol w="1447800"/>
                <a:gridCol w="1447800"/>
              </a:tblGrid>
              <a:tr h="487680"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单元</a:t>
                      </a:r>
                    </a:p>
                  </a:txBody>
                  <a:tcPr marL="54864" marR="54864" marT="18288" marB="18288">
                    <a:solidFill>
                      <a:srgbClr val="1F2A4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决策</a:t>
                      </a:r>
                    </a:p>
                  </a:txBody>
                  <a:tcPr marL="54864" marR="54864" marT="18288" marB="18288">
                    <a:solidFill>
                      <a:srgbClr val="1F2A4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目标层</a:t>
                      </a:r>
                    </a:p>
                  </a:txBody>
                  <a:tcPr marL="54864" marR="54864" marT="18288" marB="18288">
                    <a:solidFill>
                      <a:srgbClr val="1F2A4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rank</a:t>
                      </a:r>
                    </a:p>
                  </a:txBody>
                  <a:tcPr marL="54864" marR="54864" marT="18288" marB="18288">
                    <a:solidFill>
                      <a:srgbClr val="1F2A4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适配器参数</a:t>
                      </a:r>
                    </a:p>
                  </a:txBody>
                  <a:tcPr marL="54864" marR="54864" marT="18288" marB="18288">
                    <a:solidFill>
                      <a:srgbClr val="1F2A4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护栏</a:t>
                      </a:r>
                    </a:p>
                  </a:txBody>
                  <a:tcPr marL="54864" marR="54864" marT="18288" marB="18288">
                    <a:solidFill>
                      <a:srgbClr val="1F2A44"/>
                    </a:solidFill>
                  </a:tcPr>
                </a:tc>
              </a:tr>
              <a:tr h="487680">
                <a:tc>
                  <a:txBody>
                    <a:bodyPr wrap="square"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neu ×3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ACCEPT 6/6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81 targets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8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116,736 (4.15%)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strict=True, exclude 3 层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 wrap="square"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pcb ×3</a:t>
                      </a:r>
                    </a:p>
                  </a:txBody>
                  <a:tcPr marL="54864" marR="54864" marT="18288" marB="18288"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ACCEPT 6/6</a:t>
                      </a:r>
                    </a:p>
                  </a:txBody>
                  <a:tcPr marL="54864" marR="54864" marT="18288" marB="18288"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81 targets</a:t>
                      </a:r>
                    </a:p>
                  </a:txBody>
                  <a:tcPr marL="54864" marR="54864" marT="18288" marB="18288"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8</a:t>
                      </a:r>
                    </a:p>
                  </a:txBody>
                  <a:tcPr marL="54864" marR="54864" marT="18288" marB="18288"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116,736 (4.15%)</a:t>
                      </a:r>
                    </a:p>
                  </a:txBody>
                  <a:tcPr marL="54864" marR="54864" marT="18288" marB="18288"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strict=True, exclude 3 层</a:t>
                      </a:r>
                    </a:p>
                  </a:txBody>
                  <a:tcPr marL="54864" marR="54864" marT="18288" marB="18288">
                    <a:solidFill>
                      <a:srgbClr val="F3F5F9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3017520"/>
            <a:ext cx="82296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>
                <a:solidFill>
                  <a:srgbClr val="1F2A44"/>
                </a:solidFill>
              </a:rPr>
              <a:t>• 决策跨 seed/数据集稳定: 无 ADAPT/REFUSE; legacy solver(ao/dco/mip)被 vpeft 显式接管(skipping legacy planner)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1F2A44"/>
                </a:solidFill>
              </a:rPr>
              <a:t>• 类别 mismatch(80→6)检测头重初始化并解冻训练 ~348,514 → vpeft 有效可训 465,250(16.5%), 已单独披露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1F2A44"/>
                </a:solidFill>
              </a:rPr>
              <a:t>• 已知缺陷 cap&lt;8 层(0.conv/routing_network.2/dfl.conv) 以 lora_exclude_modules 规避、strict 不降级; LOVO 语义与 ΔmAP 口径见 stage4/p2 素材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859536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1F2A44"/>
                </a:solidFill>
              </a:rPr>
              <a:t>证据链与复现(stage1-5, 可逐 PR 评审)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932688"/>
            <a:ext cx="822960" cy="54864"/>
          </a:xfrm>
          <a:prstGeom prst="rect">
            <a:avLst/>
          </a:prstGeom>
          <a:solidFill>
            <a:srgbClr val="2F80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280160"/>
            <a:ext cx="822960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>
                <a:solidFill>
                  <a:srgbClr val="1F2A44"/>
                </a:solidFill>
              </a:rPr>
              <a:t>• 证据: 21 单元逐 epoch results.csv(曲线) + summary.json(exit/时长) + 日志 GpuMem 峰值显存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F2A44"/>
                </a:solidFill>
              </a:rPr>
              <a:t>• 统计: comparison_tables.md(mean/sd/95%CI/配对差) + planner_audit_summary.md(ACCEPT 分布/护栏/ΔmAP)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F2A44"/>
                </a:solidFill>
              </a:rPr>
              <a:t>• 复现包: stage5/reproduction/ = 数据转换脚本+paths.env+三策略命令样例+matrix/evidence/统计表+许可 SHA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F2A44"/>
                </a:solidFill>
              </a:rPr>
              <a:t>• git: 全部本地 commit(每 stage 独立 PR 四节: 改动摘要/测试证据/消融数据/已知局限), 待 push fork lycyhrc/YOLO-Master:c3-vpeft-smoke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F2A44"/>
                </a:solidFill>
              </a:rPr>
              <a:t>• 执行形态: server_run.py(done 标记+resume) 适配共享 A800 排队, 任意中断可重扫续跑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859536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1F2A44"/>
                </a:solidFill>
              </a:rPr>
              <a:t>已知局限(如实声明)与下一步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932688"/>
            <a:ext cx="822960" cy="54864"/>
          </a:xfrm>
          <a:prstGeom prst="rect">
            <a:avLst/>
          </a:prstGeom>
          <a:solidFill>
            <a:srgbClr val="2F80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280160"/>
            <a:ext cx="822960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>
                <a:solidFill>
                  <a:srgbClr val="1F2A44"/>
                </a:solidFill>
              </a:rPr>
              <a:t>• n=3-4 seed, CI 宽; 偶发率 1/4 仅作警示不推总; 结论限定 EsMoE-N 与两数据集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F2A44"/>
                </a:solidFill>
              </a:rPr>
              <a:t>• NEU-DET 镜像无显式 LICENSE / DeepPCB 许可(留 SHA-256 快照)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F2A44"/>
                </a:solidFill>
              </a:rPr>
              <a:t>• n-scale 全参仅 2.8M, LoRA 优势被小模型基数压缩; 3 策略时长无差异(数据管线瓶颈)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F2A44"/>
                </a:solidFill>
              </a:rPr>
              <a:t>• 下一步(P2 可选): k-shot 档位曲线 + case-embedding 调研 + planner cap&lt;8 修复 PR(issue 草稿已备)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F2A44"/>
                </a:solidFill>
              </a:rPr>
              <a:t>• 汇报/复现包随时可更新; 补跑工具 run_supplement.py 已自愈, 后续低峰可再扩 seed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828800"/>
            <a:ext cx="85039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F2A44"/>
                </a:solidFill>
              </a:rPr>
              <a:t>谢谢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3474720"/>
            <a:ext cx="8229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>
                <a:solidFill>
                  <a:srgbClr val="6B7280"/>
                </a:solidFill>
              </a:rPr>
              <a:t>三策略同预算对照 + 3-seed 统计 + 稳定性验证闭环 + 可复现证据包</a:t>
            </a:r>
          </a:p>
          <a:p>
            <a:r>
              <a:rPr sz="1600">
                <a:solidFill>
                  <a:srgbClr val="6B7280"/>
                </a:solidFill>
              </a:rPr>
              <a:t>数字来源: stage3_matrix/runs(21 单元) &amp; stage4_analysis(定稿 2026-09-07)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