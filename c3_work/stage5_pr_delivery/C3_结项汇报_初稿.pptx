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4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777240"/>
            <a:ext cx="91440" cy="658368"/>
          </a:xfrm>
          <a:prstGeom prst="rect">
            <a:avLst/>
          </a:prstGeom>
          <a:solidFill>
            <a:srgbClr val="14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498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AFC2D2"/>
                </a:solidFill>
                <a:latin typeface="Microsoft YaHei"/>
                <a:ea typeface="Microsoft YaHei"/>
              </a:rPr>
              <a:t>腾讯犀牛鸟精英培养计划 · C3 课题  |  结项汇报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 i="0">
                <a:solidFill>
                  <a:srgbClr val="149E8C"/>
                </a:solidFill>
                <a:latin typeface="Microsoft YaHei"/>
                <a:ea typeface="Microsoft YaHei"/>
              </a:rPr>
              <a:t>V-PEFT</a:t>
            </a:r>
            <a:r>
              <a:rPr sz="4800" b="1" i="0">
                <a:solidFill>
                  <a:srgbClr val="FFFFFF"/>
                </a:solidFill>
                <a:latin typeface="Microsoft YaHei"/>
                <a:ea typeface="Microsoft YaHei"/>
              </a:rPr>
              <a:t>  × 小样本工业缺陷检测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7" y="3063240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D8E2EA"/>
                </a:solidFill>
                <a:latin typeface="Microsoft YaHei"/>
                <a:ea typeface="Microsoft YaHei"/>
              </a:rPr>
              <a:t>以 4.15% 的可训参数逼近全量微调——差距与稳定性边界的 3-seed 受控测量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1207" y="4343400"/>
            <a:ext cx="2671572" cy="310896"/>
          </a:xfrm>
          <a:prstGeom prst="roundRect">
            <a:avLst>
              <a:gd name="adj" fmla="val 6000"/>
            </a:avLst>
          </a:prstGeom>
          <a:solidFill>
            <a:srgbClr val="1B2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4343400"/>
            <a:ext cx="267157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D8E2EA"/>
                </a:solidFill>
                <a:latin typeface="Microsoft YaHei"/>
                <a:ea typeface="Microsoft YaHei"/>
              </a:rPr>
              <a:t>YOLO-Master EsMoE-N · 全参 2.8M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30524" y="4343400"/>
            <a:ext cx="2216150" cy="310896"/>
          </a:xfrm>
          <a:prstGeom prst="roundRect">
            <a:avLst>
              <a:gd name="adj" fmla="val 6000"/>
            </a:avLst>
          </a:prstGeom>
          <a:solidFill>
            <a:srgbClr val="1B2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0524" y="4343400"/>
            <a:ext cx="221615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D8E2EA"/>
                </a:solidFill>
                <a:latin typeface="Microsoft YaHei"/>
                <a:ea typeface="Microsoft YaHei"/>
              </a:rPr>
              <a:t>NEU-DET 1800 张 · DeepPCB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84418" y="4343400"/>
            <a:ext cx="2082037" cy="310896"/>
          </a:xfrm>
          <a:prstGeom prst="roundRect">
            <a:avLst>
              <a:gd name="adj" fmla="val 6000"/>
            </a:avLst>
          </a:prstGeom>
          <a:solidFill>
            <a:srgbClr val="1B2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84418" y="4343400"/>
            <a:ext cx="208203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D8E2EA"/>
                </a:solidFill>
                <a:latin typeface="Microsoft YaHei"/>
                <a:ea typeface="Microsoft YaHei"/>
              </a:rPr>
              <a:t>3 策略 × 3 seed × 同预算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04199" y="4343400"/>
            <a:ext cx="2146300" cy="310896"/>
          </a:xfrm>
          <a:prstGeom prst="roundRect">
            <a:avLst>
              <a:gd name="adj" fmla="val 6000"/>
            </a:avLst>
          </a:prstGeom>
          <a:solidFill>
            <a:srgbClr val="1B2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4199" y="4343400"/>
            <a:ext cx="21463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D8E2EA"/>
                </a:solidFill>
                <a:latin typeface="Microsoft YaHei"/>
                <a:ea typeface="Microsoft YaHei"/>
              </a:rPr>
              <a:t>21 训练单元 · 全部 exit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7" y="61264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3B5"/>
                </a:solidFill>
                <a:latin typeface="Microsoft YaHei"/>
                <a:ea typeface="Microsoft YaHei"/>
              </a:rPr>
              <a:t>stage1→5 全链路证据 · 逐 PR 可评审 · reproduction/ 一键复现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612648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3B5"/>
                </a:solidFill>
                <a:latin typeface="Microsoft YaHei"/>
                <a:ea typeface="Microsoft YaHei"/>
              </a:rPr>
              <a:t>2026-09-07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" y="420624"/>
            <a:ext cx="1133856" cy="329184"/>
          </a:xfrm>
          <a:prstGeom prst="roundRect">
            <a:avLst>
              <a:gd name="adj" fmla="val 6000"/>
            </a:avLst>
          </a:prstGeom>
          <a:solidFill>
            <a:srgbClr val="14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01 · 协议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00784" y="329184"/>
            <a:ext cx="101498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i="0">
                <a:solidFill>
                  <a:srgbClr val="14222E"/>
                </a:solidFill>
                <a:latin typeface="Microsoft YaHei"/>
                <a:ea typeface="Microsoft YaHei"/>
              </a:rPr>
              <a:t>先定一场“没有借口的对照”：同预算、3 seed、唯一变量 = 策略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07008"/>
            <a:ext cx="6903720" cy="1755648"/>
          </a:xfrm>
          <a:prstGeom prst="roundRect">
            <a:avLst>
              <a:gd name="adj" fmla="val 6000"/>
            </a:avLst>
          </a:prstGeom>
          <a:solidFill>
            <a:srgbClr val="E3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353312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E6E62"/>
                </a:solidFill>
                <a:latin typeface="Microsoft YaHei"/>
                <a:ea typeface="Microsoft YaHei"/>
              </a:rPr>
              <a:t>要回答的问题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682496"/>
            <a:ext cx="640080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14222E"/>
                </a:solidFill>
                <a:latin typeface="Microsoft YaHei"/>
                <a:ea typeface="Microsoft YaHei"/>
              </a:rPr>
              <a:t>同等训练预算下，</a:t>
            </a:r>
            <a:r>
              <a:rPr sz="1350" b="1" i="0">
                <a:solidFill>
                  <a:srgbClr val="149E8C"/>
                </a:solidFill>
                <a:latin typeface="Microsoft YaHei"/>
                <a:ea typeface="Microsoft YaHei"/>
              </a:rPr>
              <a:t>V-PEFT</a:t>
            </a:r>
            <a:r>
              <a:rPr sz="1350" b="0" i="0">
                <a:solidFill>
                  <a:srgbClr val="14222E"/>
                </a:solidFill>
                <a:latin typeface="Microsoft YaHei"/>
                <a:ea typeface="Microsoft YaHei"/>
              </a:rPr>
              <a:t>(LoRA + planner 自动放置) vs “全量微调 / 冻结主干”——在 2.8M 小模型 + 小样本工业缺陷数据上，精度守住多少、代价几何？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108960"/>
            <a:ext cx="6903720" cy="2999232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255264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2E4B63"/>
                </a:solidFill>
                <a:latin typeface="Microsoft YaHei"/>
                <a:ea typeface="Microsoft YaHei"/>
              </a:rPr>
              <a:t>公平协议（怎么保证结论不是器材或运气）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639312"/>
            <a:ext cx="63093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9E8C"/>
                </a:solidFill>
                <a:latin typeface="Microsoft YaHei"/>
                <a:ea typeface="Microsoft YaHei"/>
              </a:rPr>
              <a:t>▸ </a:t>
            </a:r>
            <a:r>
              <a:rPr sz="1200" b="1" i="0">
                <a:solidFill>
                  <a:srgbClr val="14222E"/>
                </a:solidFill>
                <a:latin typeface="Microsoft YaHei"/>
                <a:ea typeface="Microsoft YaHei"/>
              </a:rPr>
              <a:t>唯一变量 = 策略：</a:t>
            </a:r>
          </a:p>
          <a:p>
            <a:pPr algn="l"/>
            <a:r>
              <a:rPr sz="1100" b="0" i="0">
                <a:solidFill>
                  <a:srgbClr val="6E7B87"/>
                </a:solidFill>
                <a:latin typeface="Microsoft YaHei"/>
                <a:ea typeface="Microsoft YaHei"/>
              </a:rPr>
              <a:t>同预算 epochs=100 · batch=8 · imgsz=640 · amp=false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97096"/>
            <a:ext cx="63093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9E8C"/>
                </a:solidFill>
                <a:latin typeface="Microsoft YaHei"/>
                <a:ea typeface="Microsoft YaHei"/>
              </a:rPr>
              <a:t>▸ </a:t>
            </a:r>
            <a:r>
              <a:rPr sz="1200" b="1" i="0">
                <a:solidFill>
                  <a:srgbClr val="14222E"/>
                </a:solidFill>
                <a:latin typeface="Microsoft YaHei"/>
                <a:ea typeface="Microsoft YaHei"/>
              </a:rPr>
              <a:t>不只信一个 seed：</a:t>
            </a:r>
          </a:p>
          <a:p>
            <a:pPr algn="l"/>
            <a:r>
              <a:rPr sz="1100" b="0" i="0">
                <a:solidFill>
                  <a:srgbClr val="6E7B87"/>
                </a:solidFill>
                <a:latin typeface="Microsoft YaHei"/>
                <a:ea typeface="Microsoft YaHei"/>
              </a:rPr>
              <a:t>seed 824/2024/777 各 3 个；另加 3 个补充单元做稳定性/确定性验证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754880"/>
            <a:ext cx="63093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9E8C"/>
                </a:solidFill>
                <a:latin typeface="Microsoft YaHei"/>
                <a:ea typeface="Microsoft YaHei"/>
              </a:rPr>
              <a:t>▸ </a:t>
            </a:r>
            <a:r>
              <a:rPr sz="1200" b="1" i="0">
                <a:solidFill>
                  <a:srgbClr val="14222E"/>
                </a:solidFill>
                <a:latin typeface="Microsoft YaHei"/>
                <a:ea typeface="Microsoft YaHei"/>
              </a:rPr>
              <a:t>指标口径防误导：</a:t>
            </a:r>
          </a:p>
          <a:p>
            <a:pPr algn="l"/>
            <a:r>
              <a:rPr sz="1100" b="0" i="0">
                <a:solidFill>
                  <a:srgbClr val="6E7B87"/>
                </a:solidFill>
                <a:latin typeface="Microsoft YaHei"/>
                <a:ea typeface="Microsoft YaHei"/>
              </a:rPr>
              <a:t>best-mAP50(取各 epoch 最优, 非末行) · 显存取日志峰值 · 时长/单元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12664"/>
            <a:ext cx="63093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9E8C"/>
                </a:solidFill>
                <a:latin typeface="Microsoft YaHei"/>
                <a:ea typeface="Microsoft YaHei"/>
              </a:rPr>
              <a:t>▸ </a:t>
            </a:r>
            <a:r>
              <a:rPr sz="1200" b="1" i="0">
                <a:solidFill>
                  <a:srgbClr val="14222E"/>
                </a:solidFill>
                <a:latin typeface="Microsoft YaHei"/>
                <a:ea typeface="Microsoft YaHei"/>
              </a:rPr>
              <a:t>执行可中断可审计：</a:t>
            </a:r>
          </a:p>
          <a:p>
            <a:pPr algn="l"/>
            <a:r>
              <a:rPr sz="1100" b="0" i="0">
                <a:solidFill>
                  <a:srgbClr val="6E7B87"/>
                </a:solidFill>
                <a:latin typeface="Microsoft YaHei"/>
                <a:ea typeface="Microsoft YaHei"/>
              </a:rPr>
              <a:t>done 标记 + resume, 8×A800 共享排队, 21/21 exit 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298448"/>
            <a:ext cx="3913632" cy="1572768"/>
          </a:xfrm>
          <a:prstGeom prst="roundRect">
            <a:avLst>
              <a:gd name="adj" fmla="val 6000"/>
            </a:avLst>
          </a:prstGeom>
          <a:noFill/>
          <a:ln w="1524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0" y="1298448"/>
            <a:ext cx="128016" cy="1572768"/>
          </a:xfrm>
          <a:prstGeom prst="rect">
            <a:avLst/>
          </a:prstGeom>
          <a:solidFill>
            <a:srgbClr val="2E4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3296" y="1426464"/>
            <a:ext cx="33649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22E"/>
                </a:solidFill>
                <a:latin typeface="Microsoft YaHei"/>
                <a:ea typeface="Microsoft YaHei"/>
              </a:rPr>
              <a:t>full_sft</a:t>
            </a:r>
            <a:r>
              <a:rPr sz="1100" b="0" i="0">
                <a:solidFill>
                  <a:srgbClr val="6E7B87"/>
                </a:solidFill>
                <a:latin typeface="Microsoft YaHei"/>
                <a:ea typeface="Microsoft YaHei"/>
              </a:rPr>
              <a:t>   全量微调(基线)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83296" y="1810512"/>
            <a:ext cx="331012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2E4B63"/>
                </a:solidFill>
                <a:latin typeface="Microsoft YaHei"/>
                <a:ea typeface="Microsoft YaHei"/>
              </a:rPr>
              <a:t>2,813,626 可训(100%), 整网反传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2916936"/>
            <a:ext cx="3913632" cy="1572768"/>
          </a:xfrm>
          <a:prstGeom prst="roundRect">
            <a:avLst>
              <a:gd name="adj" fmla="val 6000"/>
            </a:avLst>
          </a:prstGeom>
          <a:noFill/>
          <a:ln w="1524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0" y="2916936"/>
            <a:ext cx="128016" cy="1572768"/>
          </a:xfrm>
          <a:prstGeom prst="rect">
            <a:avLst/>
          </a:prstGeom>
          <a:solidFill>
            <a:srgbClr val="14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3296" y="3044952"/>
            <a:ext cx="33649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22E"/>
                </a:solidFill>
                <a:latin typeface="Microsoft YaHei"/>
                <a:ea typeface="Microsoft YaHei"/>
              </a:rPr>
              <a:t>vpeft</a:t>
            </a:r>
            <a:r>
              <a:rPr sz="1100" b="0" i="0">
                <a:solidFill>
                  <a:srgbClr val="6E7B87"/>
                </a:solidFill>
                <a:latin typeface="Microsoft YaHei"/>
                <a:ea typeface="Microsoft YaHei"/>
              </a:rPr>
              <a:t>   V-PEFT + planner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83296" y="3429000"/>
            <a:ext cx="331012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9E8C"/>
                </a:solidFill>
                <a:latin typeface="Microsoft YaHei"/>
                <a:ea typeface="Microsoft YaHei"/>
              </a:rPr>
              <a:t>adapter 116,736(4.15%); +解冻 head 465,250(16.5%)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0" y="4535424"/>
            <a:ext cx="3913632" cy="1572768"/>
          </a:xfrm>
          <a:prstGeom prst="roundRect">
            <a:avLst>
              <a:gd name="adj" fmla="val 6000"/>
            </a:avLst>
          </a:prstGeom>
          <a:noFill/>
          <a:ln w="1524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0" y="4535424"/>
            <a:ext cx="128016" cy="1572768"/>
          </a:xfrm>
          <a:prstGeom prst="rect">
            <a:avLst/>
          </a:prstGeom>
          <a:solidFill>
            <a:srgbClr val="D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83296" y="4663440"/>
            <a:ext cx="33649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4222E"/>
                </a:solidFill>
                <a:latin typeface="Microsoft YaHei"/>
                <a:ea typeface="Microsoft YaHei"/>
              </a:rPr>
              <a:t>frozen_backbone</a:t>
            </a:r>
            <a:r>
              <a:rPr sz="1100" b="0" i="0">
                <a:solidFill>
                  <a:srgbClr val="6E7B87"/>
                </a:solidFill>
                <a:latin typeface="Microsoft YaHei"/>
                <a:ea typeface="Microsoft YaHei"/>
              </a:rPr>
              <a:t>   freeze=11 冻结主干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83296" y="5047488"/>
            <a:ext cx="331012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D98A2B"/>
                </a:solidFill>
                <a:latin typeface="Microsoft YaHei"/>
                <a:ea typeface="Microsoft YaHei"/>
              </a:rPr>
              <a:t>1,906,822 可训(67.8%)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852160"/>
            <a:ext cx="6400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E7B87"/>
                </a:solidFill>
                <a:latin typeface="Microsoft YaHei"/>
                <a:ea typeface="Microsoft YaHei"/>
              </a:rPr>
              <a:t>训练数据: 每(策略×seed)使用相同 k=10 全量子集(184 张), 唯一差异=可训练范围与放法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437376"/>
            <a:ext cx="11201400" cy="10972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4922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E7B87"/>
                </a:solidFill>
                <a:latin typeface="Microsoft YaHei"/>
                <a:ea typeface="Microsoft YaHei"/>
              </a:rPr>
              <a:t>证据: stage1_env_data/README + stage3_matrix/matrix.json(21 单元定义)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E7B87"/>
                </a:solidFill>
                <a:latin typeface="Microsoft YaHei"/>
                <a:ea typeface="Microsoft Ya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" y="420624"/>
            <a:ext cx="1133856" cy="329184"/>
          </a:xfrm>
          <a:prstGeom prst="roundRect">
            <a:avLst>
              <a:gd name="adj" fmla="val 6000"/>
            </a:avLst>
          </a:prstGeom>
          <a:solidFill>
            <a:srgbClr val="2E4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02 · 答案轮廓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00784" y="329184"/>
            <a:ext cx="101498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i="0">
                <a:solidFill>
                  <a:srgbClr val="14222E"/>
                </a:solidFill>
                <a:latin typeface="Microsoft YaHei"/>
                <a:ea typeface="Microsoft YaHei"/>
              </a:rPr>
              <a:t>预算相同 → 参数省 95.8%、精度只低 ~0.07(NEU)/~0.11(PCB)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98448"/>
          <a:ext cx="6949440" cy="3282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60120"/>
                <a:gridCol w="1143000"/>
                <a:gridCol w="1554480"/>
                <a:gridCol w="2377440"/>
                <a:gridCol w="91440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数据集</a:t>
                      </a:r>
                    </a:p>
                  </a:txBody>
                  <a:tcPr marL="64008" marR="64008" marT="13716" marB="13716" anchor="ctr">
                    <a:solidFill>
                      <a:srgbClr val="1422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策略</a:t>
                      </a:r>
                    </a:p>
                  </a:txBody>
                  <a:tcPr marL="64008" marR="64008" marT="13716" marB="13716" anchor="ctr">
                    <a:solidFill>
                      <a:srgbClr val="1422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mAP50 mean±sd</a:t>
                      </a:r>
                    </a:p>
                  </a:txBody>
                  <a:tcPr marL="64008" marR="64008" marT="13716" marB="13716" anchor="ctr">
                    <a:solidFill>
                      <a:srgbClr val="1422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seed 明细(best)</a:t>
                      </a:r>
                    </a:p>
                  </a:txBody>
                  <a:tcPr marL="64008" marR="64008" marT="13716" marB="13716" anchor="ctr">
                    <a:solidFill>
                      <a:srgbClr val="1422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相对 full</a:t>
                      </a:r>
                    </a:p>
                  </a:txBody>
                  <a:tcPr marL="64008" marR="64008" marT="13716" marB="13716" anchor="ctr">
                    <a:solidFill>
                      <a:srgbClr val="14222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NEU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E4B63"/>
                          </a:solidFill>
                          <a:latin typeface="Microsoft YaHei"/>
                          <a:ea typeface="Microsoft YaHei"/>
                        </a:rPr>
                        <a:t>full_sft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0.767 ± 0.014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0.752 / 0.780 / 0.768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NEU</a:t>
                      </a:r>
                    </a:p>
                  </a:txBody>
                  <a:tcPr marL="64008" marR="64008" marT="13716" marB="13716" anchor="ctr">
                    <a:solidFill>
                      <a:srgbClr val="EA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49E8C"/>
                          </a:solidFill>
                          <a:latin typeface="Microsoft YaHei"/>
                          <a:ea typeface="Microsoft YaHei"/>
                        </a:rPr>
                        <a:t>vpeft</a:t>
                      </a:r>
                    </a:p>
                  </a:txBody>
                  <a:tcPr marL="64008" marR="64008" marT="13716" marB="13716" anchor="ctr">
                    <a:solidFill>
                      <a:srgbClr val="EA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0.694 ± 0.052*</a:t>
                      </a:r>
                    </a:p>
                  </a:txBody>
                  <a:tcPr marL="64008" marR="64008" marT="13716" marB="13716" anchor="ctr">
                    <a:solidFill>
                      <a:srgbClr val="EA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D98A2B"/>
                          </a:solidFill>
                          <a:latin typeface="Microsoft YaHei"/>
                          <a:ea typeface="Microsoft YaHei"/>
                        </a:rPr>
                        <a:t>0.691 / 0.369⚠ / 0.746 / 0.644</a:t>
                      </a:r>
                    </a:p>
                  </a:txBody>
                  <a:tcPr marL="64008" marR="64008" marT="13716" marB="13716" anchor="ctr">
                    <a:solidFill>
                      <a:srgbClr val="EA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−0.073</a:t>
                      </a:r>
                    </a:p>
                  </a:txBody>
                  <a:tcPr marL="64008" marR="64008" marT="13716" marB="13716" anchor="ctr">
                    <a:solidFill>
                      <a:srgbClr val="EAF1F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NEU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D98A2B"/>
                          </a:solidFill>
                          <a:latin typeface="Microsoft YaHei"/>
                          <a:ea typeface="Microsoft YaHei"/>
                        </a:rPr>
                        <a:t>frozen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0.694 ± 0.041*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D98A2B"/>
                          </a:solidFill>
                          <a:latin typeface="Microsoft YaHei"/>
                          <a:ea typeface="Microsoft YaHei"/>
                        </a:rPr>
                        <a:t>0.685 / 0.210⚠ / 0.659 / 0.739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−0.073</a:t>
                      </a:r>
                    </a:p>
                  </a:txBody>
                  <a:tcPr marL="64008" marR="64008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PCB</a:t>
                      </a:r>
                    </a:p>
                  </a:txBody>
                  <a:tcPr marL="64008" marR="64008" marT="13716" marB="13716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E4B63"/>
                          </a:solidFill>
                          <a:latin typeface="Microsoft YaHei"/>
                          <a:ea typeface="Microsoft YaHei"/>
                        </a:rPr>
                        <a:t>full_sft</a:t>
                      </a:r>
                    </a:p>
                  </a:txBody>
                  <a:tcPr marL="64008" marR="64008" marT="13716" marB="13716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0.989 ± 0.001</a:t>
                      </a:r>
                    </a:p>
                  </a:txBody>
                  <a:tcPr marL="64008" marR="64008" marT="13716" marB="13716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0.989 / 0.989 / 0.990</a:t>
                      </a:r>
                    </a:p>
                  </a:txBody>
                  <a:tcPr marL="64008" marR="64008" marT="13716" marB="13716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L="64008" marR="64008" marT="13716" marB="13716" anchor="ctr">
                    <a:solidFill>
                      <a:srgbClr val="F2F6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PCB</a:t>
                      </a:r>
                    </a:p>
                  </a:txBody>
                  <a:tcPr marL="64008" marR="64008" marT="13716" marB="13716" anchor="ctr">
                    <a:solidFill>
                      <a:srgbClr val="EA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49E8C"/>
                          </a:solidFill>
                          <a:latin typeface="Microsoft YaHei"/>
                          <a:ea typeface="Microsoft YaHei"/>
                        </a:rPr>
                        <a:t>vpeft</a:t>
                      </a:r>
                    </a:p>
                  </a:txBody>
                  <a:tcPr marL="64008" marR="64008" marT="13716" marB="13716" anchor="ctr">
                    <a:solidFill>
                      <a:srgbClr val="EA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0.881 ± 0.072</a:t>
                      </a:r>
                    </a:p>
                  </a:txBody>
                  <a:tcPr marL="64008" marR="64008" marT="13716" marB="13716" anchor="ctr">
                    <a:solidFill>
                      <a:srgbClr val="EA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0.864 / 0.819 / 0.961</a:t>
                      </a:r>
                    </a:p>
                  </a:txBody>
                  <a:tcPr marL="64008" marR="64008" marT="13716" marB="13716" anchor="ctr">
                    <a:solidFill>
                      <a:srgbClr val="EA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−0.108</a:t>
                      </a:r>
                    </a:p>
                  </a:txBody>
                  <a:tcPr marL="64008" marR="64008" marT="13716" marB="13716" anchor="ctr">
                    <a:solidFill>
                      <a:srgbClr val="EAF1F6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PCB</a:t>
                      </a:r>
                    </a:p>
                  </a:txBody>
                  <a:tcPr marL="64008" marR="64008" marT="13716" marB="13716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D98A2B"/>
                          </a:solidFill>
                          <a:latin typeface="Microsoft YaHei"/>
                          <a:ea typeface="Microsoft YaHei"/>
                        </a:rPr>
                        <a:t>frozen</a:t>
                      </a:r>
                    </a:p>
                  </a:txBody>
                  <a:tcPr marL="64008" marR="64008" marT="13716" marB="13716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0.769 ± 0.151</a:t>
                      </a:r>
                    </a:p>
                  </a:txBody>
                  <a:tcPr marL="64008" marR="64008" marT="13716" marB="13716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D98A2B"/>
                          </a:solidFill>
                          <a:latin typeface="Microsoft YaHei"/>
                          <a:ea typeface="Microsoft YaHei"/>
                        </a:rPr>
                        <a:t>0.639⚠ / 0.891 / 0.907 / 0.639⚠</a:t>
                      </a:r>
                    </a:p>
                  </a:txBody>
                  <a:tcPr marL="64008" marR="64008" marT="13716" marB="13716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−0.220</a:t>
                      </a:r>
                    </a:p>
                  </a:txBody>
                  <a:tcPr marL="64008" marR="64008" marT="13716" marB="13716" anchor="ctr">
                    <a:solidFill>
                      <a:srgbClr val="F2F6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709159"/>
            <a:ext cx="6949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E7B87"/>
                </a:solidFill>
                <a:latin typeface="Microsoft YaHei"/>
                <a:ea typeface="Microsoft YaHei"/>
              </a:rPr>
              <a:t>* NEU vpeft/frozen 为稳健口径(剔除 1 个偶发 seed, n=3; 全 4-seed 均值 0.612/0.573)</a:t>
            </a:r>
          </a:p>
          <a:p>
            <a:pPr algn="l"/>
            <a:r>
              <a:rPr sz="950" b="0" i="0">
                <a:solidFill>
                  <a:srgbClr val="6E7B87"/>
                </a:solidFill>
                <a:latin typeface="Microsoft YaHei"/>
                <a:ea typeface="Microsoft YaHei"/>
              </a:rPr>
              <a:t>⚠ = 收敛异常(seed 偶发或确定性动力学, 详见第 5 页)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298448"/>
            <a:ext cx="4005072" cy="475488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0" y="1463040"/>
            <a:ext cx="34564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E4B63"/>
                </a:solidFill>
                <a:latin typeface="Microsoft YaHei"/>
                <a:ea typeface="Microsoft YaHei"/>
              </a:rPr>
              <a:t>“省下来的钱”长什么样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6448" y="2020824"/>
            <a:ext cx="305409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149E8C"/>
                </a:solidFill>
                <a:latin typeface="Microsoft YaHei"/>
                <a:ea typeface="Microsoft YaHei"/>
              </a:rPr>
              <a:t>−95.8%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6448" y="2834639"/>
            <a:ext cx="30540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4222E"/>
                </a:solidFill>
                <a:latin typeface="Microsoft YaHei"/>
                <a:ea typeface="Microsoft YaHei"/>
              </a:rPr>
              <a:t>可训参数: 2.81M → 0.117M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6448" y="3392424"/>
            <a:ext cx="305409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2E8B63"/>
                </a:solidFill>
                <a:latin typeface="Microsoft YaHei"/>
                <a:ea typeface="Microsoft YaHei"/>
              </a:rPr>
              <a:t>−1.2 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6448" y="4206240"/>
            <a:ext cx="30540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4222E"/>
                </a:solidFill>
                <a:latin typeface="Microsoft YaHei"/>
                <a:ea typeface="Microsoft YaHei"/>
              </a:rPr>
              <a:t>峰值显存: 5.3G → 4.2G (A800)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4764024"/>
            <a:ext cx="305409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6E7B87"/>
                </a:solidFill>
                <a:latin typeface="Microsoft YaHei"/>
                <a:ea typeface="Microsoft YaHei"/>
              </a:rPr>
              <a:t>≈ 持平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5577840"/>
            <a:ext cx="30540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4222E"/>
                </a:solidFill>
                <a:latin typeface="Microsoft YaHei"/>
                <a:ea typeface="Microsoft YaHei"/>
              </a:rPr>
              <a:t>时长/单元(数据管线为瓶颈)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437376"/>
            <a:ext cx="11201400" cy="10972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922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E7B87"/>
                </a:solidFill>
                <a:latin typeface="Microsoft YaHei"/>
                <a:ea typeface="Microsoft YaHei"/>
              </a:rPr>
              <a:t>证据: stage4_analysis/README.md 表 1-3 + comparison_tables.md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E7B87"/>
                </a:solidFill>
                <a:latin typeface="Microsoft YaHei"/>
                <a:ea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" y="420624"/>
            <a:ext cx="1133856" cy="329184"/>
          </a:xfrm>
          <a:prstGeom prst="roundRect">
            <a:avLst>
              <a:gd name="adj" fmla="val 6000"/>
            </a:avLst>
          </a:prstGeom>
          <a:solidFill>
            <a:srgbClr val="14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03 · 发现①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00784" y="329184"/>
            <a:ext cx="101498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i="0">
                <a:solidFill>
                  <a:srgbClr val="14222E"/>
                </a:solidFill>
                <a:latin typeface="Microsoft YaHei"/>
                <a:ea typeface="Microsoft YaHei"/>
              </a:rPr>
              <a:t>性价比成立: 参数降 95.8%、显存省 1.2G, 精度代价在十分位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298448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4222E"/>
                </a:solidFill>
                <a:latin typeface="Microsoft YaHei"/>
                <a:ea typeface="Microsoft YaHei"/>
              </a:rPr>
              <a:t>NEU-DET · mAP50(best, 稳健口径, n=3)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3566160"/>
            <a:ext cx="5029200" cy="11887"/>
          </a:xfrm>
          <a:prstGeom prst="rect">
            <a:avLst/>
          </a:prstGeom>
          <a:solidFill>
            <a:srgbClr val="6E7B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2956560"/>
            <a:ext cx="5029200" cy="5486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2346960"/>
            <a:ext cx="5029200" cy="5486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737360"/>
            <a:ext cx="5029200" cy="5486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46988" y="2007616"/>
            <a:ext cx="771144" cy="1558544"/>
          </a:xfrm>
          <a:prstGeom prst="rect">
            <a:avLst/>
          </a:prstGeom>
          <a:solidFill>
            <a:srgbClr val="2E4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6988" y="2035047"/>
            <a:ext cx="771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</a:rPr>
              <a:t>0.767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80" y="387705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E7B87"/>
                </a:solidFill>
                <a:latin typeface="Microsoft YaHei"/>
                <a:ea typeface="Microsoft YaHei"/>
              </a:rPr>
              <a:t>full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23387" y="2155952"/>
            <a:ext cx="771144" cy="1410208"/>
          </a:xfrm>
          <a:prstGeom prst="rect">
            <a:avLst/>
          </a:prstGeom>
          <a:solidFill>
            <a:srgbClr val="14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23387" y="2183384"/>
            <a:ext cx="771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</a:rPr>
              <a:t>0.694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87705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E7B87"/>
                </a:solidFill>
                <a:latin typeface="Microsoft YaHei"/>
                <a:ea typeface="Microsoft YaHei"/>
              </a:rPr>
              <a:t>vpeft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99788" y="2155952"/>
            <a:ext cx="771144" cy="1410208"/>
          </a:xfrm>
          <a:prstGeom prst="rect">
            <a:avLst/>
          </a:prstGeom>
          <a:solidFill>
            <a:srgbClr val="D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99788" y="2183384"/>
            <a:ext cx="771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</a:rPr>
              <a:t>0.694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45280" y="387705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E7B87"/>
                </a:solidFill>
                <a:latin typeface="Microsoft YaHei"/>
                <a:ea typeface="Microsoft YaHei"/>
              </a:rPr>
              <a:t>frozen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160520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4222E"/>
                </a:solidFill>
                <a:latin typeface="Microsoft YaHei"/>
                <a:ea typeface="Microsoft YaHei"/>
              </a:rPr>
              <a:t>DeepPCB · mAP50(best, 3 seed)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5870448"/>
            <a:ext cx="5029200" cy="11887"/>
          </a:xfrm>
          <a:prstGeom prst="rect">
            <a:avLst/>
          </a:prstGeom>
          <a:solidFill>
            <a:srgbClr val="6E7B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4360" y="5437632"/>
            <a:ext cx="5029200" cy="5486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" y="5004816"/>
            <a:ext cx="5029200" cy="5486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572000"/>
            <a:ext cx="5029200" cy="5486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46988" y="4703025"/>
            <a:ext cx="771144" cy="1167422"/>
          </a:xfrm>
          <a:prstGeom prst="rect">
            <a:avLst/>
          </a:prstGeom>
          <a:solidFill>
            <a:srgbClr val="2E4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6988" y="4730457"/>
            <a:ext cx="771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</a:rPr>
              <a:t>0.989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480" y="61813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E7B87"/>
                </a:solidFill>
                <a:latin typeface="Microsoft YaHei"/>
                <a:ea typeface="Microsoft YaHei"/>
              </a:rPr>
              <a:t>full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23387" y="4830509"/>
            <a:ext cx="771144" cy="1039938"/>
          </a:xfrm>
          <a:prstGeom prst="rect">
            <a:avLst/>
          </a:prstGeom>
          <a:solidFill>
            <a:srgbClr val="14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23387" y="4857941"/>
            <a:ext cx="771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</a:rPr>
              <a:t>0.881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8880" y="61813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E7B87"/>
                </a:solidFill>
                <a:latin typeface="Microsoft YaHei"/>
                <a:ea typeface="Microsoft YaHei"/>
              </a:rPr>
              <a:t>vpeft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99788" y="4962714"/>
            <a:ext cx="771144" cy="907733"/>
          </a:xfrm>
          <a:prstGeom prst="rect">
            <a:avLst/>
          </a:prstGeom>
          <a:solidFill>
            <a:srgbClr val="D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99788" y="4990146"/>
            <a:ext cx="7711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</a:rPr>
              <a:t>0.769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45280" y="61813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E7B87"/>
                </a:solidFill>
                <a:latin typeface="Microsoft YaHei"/>
                <a:ea typeface="Microsoft YaHei"/>
              </a:rPr>
              <a:t>frozen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89320" y="1371600"/>
            <a:ext cx="5715000" cy="484632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63640" y="157276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E4B63"/>
                </a:solidFill>
                <a:latin typeface="Microsoft YaHei"/>
                <a:ea typeface="Microsoft YaHei"/>
              </a:rPr>
              <a:t>读法(逐项检验)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2011680"/>
            <a:ext cx="5212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2E4B63"/>
                </a:solidFill>
                <a:latin typeface="Microsoft YaHei"/>
                <a:ea typeface="Microsoft YaHei"/>
              </a:rPr>
              <a:t>① 参数   </a:t>
            </a:r>
          </a:p>
          <a:p>
            <a:pPr algn="l"/>
            <a:r>
              <a:rPr sz="1150" b="0" i="0">
                <a:solidFill>
                  <a:srgbClr val="14222E"/>
                </a:solidFill>
                <a:latin typeface="Microsoft YaHei"/>
                <a:ea typeface="Microsoft YaHei"/>
              </a:rPr>
              <a:t>adapter 只占 4.15%(116,736/2.81M), 为最低约束档; 精度反而高于同预算的冻结(NEU 稳健口径持平, PCB 高 0.11)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2852928"/>
            <a:ext cx="5212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4222E"/>
                </a:solidFill>
                <a:latin typeface="Microsoft YaHei"/>
                <a:ea typeface="Microsoft YaHei"/>
              </a:rPr>
              <a:t>② 精度   </a:t>
            </a:r>
          </a:p>
          <a:p>
            <a:pPr algn="l"/>
            <a:r>
              <a:rPr sz="1150" b="0" i="0">
                <a:solidFill>
                  <a:srgbClr val="14222E"/>
                </a:solidFill>
                <a:latin typeface="Microsoft YaHei"/>
                <a:ea typeface="Microsoft YaHei"/>
              </a:rPr>
              <a:t>NEU 差 −0.07; PCB 差 −0.11 —— 都在 0.1 以内, 且 PCB 全量已趋饱和(0.989), 压差空间本就小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3694176"/>
            <a:ext cx="5212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2E8B63"/>
                </a:solidFill>
                <a:latin typeface="Microsoft YaHei"/>
                <a:ea typeface="Microsoft YaHei"/>
              </a:rPr>
              <a:t>③ 显存   </a:t>
            </a:r>
          </a:p>
          <a:p>
            <a:pPr algn="l"/>
            <a:r>
              <a:rPr sz="1150" b="0" i="0">
                <a:solidFill>
                  <a:srgbClr val="14222E"/>
                </a:solidFill>
                <a:latin typeface="Microsoft YaHei"/>
                <a:ea typeface="Microsoft YaHei"/>
              </a:rPr>
              <a:t>峰值 −1.2G(4.2G vs 5.3G), 主要省在冻结 Backbone 梯度; 边缘部署若以显存为约束则红利直接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4535424"/>
            <a:ext cx="5212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D98A2B"/>
                </a:solidFill>
                <a:latin typeface="Microsoft YaHei"/>
                <a:ea typeface="Microsoft YaHei"/>
              </a:rPr>
              <a:t>④ 时长   </a:t>
            </a:r>
          </a:p>
          <a:p>
            <a:pPr algn="l"/>
            <a:r>
              <a:rPr sz="1150" b="0" i="0">
                <a:solidFill>
                  <a:srgbClr val="14222E"/>
                </a:solidFill>
                <a:latin typeface="Microsoft YaHei"/>
                <a:ea typeface="Microsoft YaHei"/>
              </a:rPr>
              <a:t>约持平: 瓶颈是数据管线而非反传, 小模型红利未兑现 —— 报告如实记录, 不把“快”当卖点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5376672"/>
            <a:ext cx="5212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D54B3F"/>
                </a:solidFill>
                <a:latin typeface="Microsoft YaHei"/>
                <a:ea typeface="Microsoft YaHei"/>
              </a:rPr>
              <a:t>⑤ 代价   </a:t>
            </a:r>
          </a:p>
          <a:p>
            <a:pPr algn="l"/>
            <a:r>
              <a:rPr sz="1150" b="0" i="0">
                <a:solidFill>
                  <a:srgbClr val="14222E"/>
                </a:solidFill>
                <a:latin typeface="Microsoft YaHei"/>
                <a:ea typeface="Microsoft YaHei"/>
              </a:rPr>
              <a:t>代价不是参数而是稳定性(seed 偶发), 见下一页 —— 这是取舍的真正位置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6437376"/>
            <a:ext cx="11201400" cy="10972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64922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E7B87"/>
                </a:solidFill>
                <a:latin typeface="Microsoft YaHei"/>
                <a:ea typeface="Microsoft YaHei"/>
              </a:rPr>
              <a:t>证据: stage3_matrix/runs/*/summary.json + stage4/README.md 表 2(配对差)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E7B87"/>
                </a:solidFill>
                <a:latin typeface="Microsoft YaHei"/>
                <a:ea typeface="Microsoft Ya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" y="420624"/>
            <a:ext cx="1133856" cy="329184"/>
          </a:xfrm>
          <a:prstGeom prst="roundRect">
            <a:avLst>
              <a:gd name="adj" fmla="val 6000"/>
            </a:avLst>
          </a:prstGeom>
          <a:solidFill>
            <a:srgbClr val="D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04 · 发现②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00784" y="329184"/>
            <a:ext cx="101498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i="0">
                <a:solidFill>
                  <a:srgbClr val="14222E"/>
                </a:solidFill>
                <a:latin typeface="Microsoft YaHei"/>
                <a:ea typeface="Microsoft YaHei"/>
              </a:rPr>
              <a:t>稳定性是隐藏的第三维度: 全量全稳, vpeft/frozen 各有 1/4 seed 收敛异常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6035040" cy="393192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41732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4222E"/>
                </a:solidFill>
                <a:latin typeface="Microsoft YaHei"/>
                <a:ea typeface="Microsoft YaHei"/>
              </a:rPr>
              <a:t>NEU-DET 逐 seed 分布(best mAP50, 越靠右越好)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E4B63"/>
                </a:solidFill>
                <a:latin typeface="Microsoft YaHei"/>
                <a:ea typeface="Microsoft YaHei"/>
              </a:rPr>
              <a:t>full_sft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76544" y="1915667"/>
            <a:ext cx="100584" cy="100584"/>
          </a:xfrm>
          <a:prstGeom prst="rect">
            <a:avLst/>
          </a:prstGeom>
          <a:solidFill>
            <a:srgbClr val="2E4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15940" y="1915667"/>
            <a:ext cx="100584" cy="100584"/>
          </a:xfrm>
          <a:prstGeom prst="rect">
            <a:avLst/>
          </a:prstGeom>
          <a:solidFill>
            <a:srgbClr val="2E4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56199" y="1915667"/>
            <a:ext cx="100584" cy="100584"/>
          </a:xfrm>
          <a:prstGeom prst="rect">
            <a:avLst/>
          </a:prstGeom>
          <a:solidFill>
            <a:srgbClr val="2E4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96596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E7B87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529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9E8C"/>
                </a:solidFill>
                <a:latin typeface="Microsoft YaHei"/>
                <a:ea typeface="Microsoft YaHei"/>
              </a:rPr>
              <a:t>vpeft  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72862" y="2802636"/>
            <a:ext cx="100584" cy="100584"/>
          </a:xfrm>
          <a:prstGeom prst="rect">
            <a:avLst/>
          </a:prstGeom>
          <a:solidFill>
            <a:srgbClr val="14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69817" y="2802636"/>
            <a:ext cx="100584" cy="100584"/>
          </a:xfrm>
          <a:prstGeom prst="rect">
            <a:avLst/>
          </a:prstGeom>
          <a:solidFill>
            <a:srgbClr val="D5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6674" y="2802636"/>
            <a:ext cx="100584" cy="100584"/>
          </a:xfrm>
          <a:prstGeom prst="rect">
            <a:avLst/>
          </a:prstGeom>
          <a:solidFill>
            <a:srgbClr val="14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38877" y="2802636"/>
            <a:ext cx="100584" cy="100584"/>
          </a:xfrm>
          <a:prstGeom prst="rect">
            <a:avLst/>
          </a:prstGeom>
          <a:solidFill>
            <a:srgbClr val="14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2852928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E7B87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7398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8A2B"/>
                </a:solidFill>
                <a:latin typeface="Microsoft YaHei"/>
                <a:ea typeface="Microsoft YaHei"/>
              </a:rPr>
              <a:t>frozen 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42992" y="3689604"/>
            <a:ext cx="100584" cy="100584"/>
          </a:xfrm>
          <a:prstGeom prst="rect">
            <a:avLst/>
          </a:prstGeom>
          <a:solidFill>
            <a:srgbClr val="D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78252" y="3689604"/>
            <a:ext cx="100584" cy="100584"/>
          </a:xfrm>
          <a:prstGeom prst="rect">
            <a:avLst/>
          </a:prstGeom>
          <a:solidFill>
            <a:srgbClr val="D5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13553" y="3689604"/>
            <a:ext cx="100584" cy="100584"/>
          </a:xfrm>
          <a:prstGeom prst="rect">
            <a:avLst/>
          </a:prstGeom>
          <a:solidFill>
            <a:srgbClr val="D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1825" y="3689604"/>
            <a:ext cx="100584" cy="100584"/>
          </a:xfrm>
          <a:prstGeom prst="rect">
            <a:avLst/>
          </a:prstGeom>
          <a:solidFill>
            <a:srgbClr val="D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0" y="3739896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E7B87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4389119"/>
            <a:ext cx="4480560" cy="10972"/>
          </a:xfrm>
          <a:prstGeom prst="rect">
            <a:avLst/>
          </a:prstGeom>
          <a:solidFill>
            <a:srgbClr val="6E7B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443983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E7B87"/>
                </a:solidFill>
                <a:latin typeface="Microsoft YaHei"/>
                <a:ea typeface="Microsoft YaHei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800" y="4443983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E7B87"/>
                </a:solidFill>
                <a:latin typeface="Microsoft YaHei"/>
                <a:ea typeface="Microsoft YaHei"/>
              </a:rPr>
              <a:t>0.9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4443983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D54B3F"/>
                </a:solidFill>
                <a:latin typeface="Microsoft YaHei"/>
                <a:ea typeface="Microsoft YaHei"/>
              </a:rPr>
              <a:t>● 红 = 收敛异常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5358384"/>
            <a:ext cx="5669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22E"/>
                </a:solidFill>
                <a:latin typeface="Microsoft YaHei"/>
                <a:ea typeface="Microsoft YaHei"/>
              </a:rPr>
              <a:t>全口径 sd: </a:t>
            </a:r>
            <a:r>
              <a:rPr sz="1200" b="0" i="0">
                <a:solidFill>
                  <a:srgbClr val="14222E"/>
                </a:solidFill>
                <a:latin typeface="Microsoft YaHei"/>
                <a:ea typeface="Microsoft YaHei"/>
              </a:rPr>
              <a:t>full 0.014  |  vpeft 0.167  |  frozen 0.245</a:t>
            </a:r>
          </a:p>
          <a:p>
            <a:pPr algn="l"/>
            <a:r>
              <a:rPr sz="1050" b="0" i="0">
                <a:solidFill>
                  <a:srgbClr val="6E7B87"/>
                </a:solidFill>
                <a:latin typeface="Microsoft YaHei"/>
                <a:ea typeface="Microsoft YaHei"/>
              </a:rPr>
              <a:t>剔除 1 个偶发 seed 后: vpeft/frozen sd ≈ 0.04-0.05 —— 异常是“全有或全无”式的坏 seed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6560" y="1280160"/>
            <a:ext cx="4937760" cy="4846320"/>
          </a:xfrm>
          <a:prstGeom prst="roundRect">
            <a:avLst>
              <a:gd name="adj" fmla="val 6000"/>
            </a:avLst>
          </a:prstGeom>
          <a:noFill/>
          <a:ln w="15240">
            <a:solidFill>
              <a:srgbClr val="DC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22592" y="14447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22E"/>
                </a:solidFill>
                <a:latin typeface="Microsoft YaHei"/>
                <a:ea typeface="Microsoft YaHei"/>
              </a:rPr>
              <a:t>验证实验(3 个补充单元, 全 exit 0)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7022592" y="1828800"/>
          <a:ext cx="443484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1417320"/>
                <a:gridCol w="13258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补充单元</a:t>
                      </a:r>
                    </a:p>
                  </a:txBody>
                  <a:tcPr marL="45720" marR="45720" marT="9144" marB="9144" anchor="ctr">
                    <a:solidFill>
                      <a:srgbClr val="1422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结果(best)</a:t>
                      </a:r>
                    </a:p>
                  </a:txBody>
                  <a:tcPr marL="45720" marR="45720" marT="9144" marB="9144" anchor="ctr">
                    <a:solidFill>
                      <a:srgbClr val="1422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判定</a:t>
                      </a:r>
                    </a:p>
                  </a:txBody>
                  <a:tcPr marL="45720" marR="45720" marT="9144" marB="9144" anchor="ctr">
                    <a:solidFill>
                      <a:srgbClr val="14222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neu_vpeft_s2025</a:t>
                      </a:r>
                    </a:p>
                  </a:txBody>
                  <a:tcPr marL="45720" marR="45720" marT="9144" marB="9144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0.644  正常</a:t>
                      </a:r>
                    </a:p>
                  </a:txBody>
                  <a:tcPr marL="45720" marR="45720" marT="9144" marB="9144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s2024 停滞 = seed 偶发</a:t>
                      </a:r>
                    </a:p>
                  </a:txBody>
                  <a:tcPr marL="45720" marR="45720" marT="9144" marB="9144" anchor="ctr">
                    <a:solidFill>
                      <a:srgbClr val="F2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neu_frozen_s2025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0.739  正常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s2024 卡死 = seed 偶发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pcb_frozen_s824b</a:t>
                      </a:r>
                    </a:p>
                  </a:txBody>
                  <a:tcPr marL="45720" marR="45720" marT="9144" marB="9144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0.639@ep9 = s824 重跑逐一致</a:t>
                      </a:r>
                    </a:p>
                  </a:txBody>
                  <a:tcPr marL="45720" marR="45720" marT="9144" marB="9144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震荡 = 确定性动力学</a:t>
                      </a:r>
                    </a:p>
                  </a:txBody>
                  <a:tcPr marL="45720" marR="45720" marT="9144" marB="9144" anchor="ctr">
                    <a:solidFill>
                      <a:srgbClr val="F2F6F8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7022592" y="3977639"/>
            <a:ext cx="4480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D54B3F"/>
                </a:solidFill>
                <a:latin typeface="Microsoft YaHei"/>
                <a:ea typeface="Microsoft YaHei"/>
              </a:rPr>
              <a:t>一句话: </a:t>
            </a:r>
            <a:r>
              <a:rPr sz="1250" b="1" i="0">
                <a:solidFill>
                  <a:srgbClr val="14222E"/>
                </a:solidFill>
                <a:latin typeface="Microsoft YaHei"/>
                <a:ea typeface="Microsoft YaHei"/>
              </a:rPr>
              <a:t>参数高效/冻结法的“坏 seed”是真实风险</a:t>
            </a:r>
          </a:p>
          <a:p>
            <a:pPr algn="l"/>
            <a:r>
              <a:rPr sz="1050" b="0" i="0">
                <a:solidFill>
                  <a:srgbClr val="6E7B87"/>
                </a:solidFill>
                <a:latin typeface="Microsoft YaHei"/>
                <a:ea typeface="Microsoft YaHei"/>
              </a:rPr>
              <a:t>NEU 偶发率 ~1/4(各 1 例), 已由新 seed 验证为 seed 特异而非系统性失效;</a:t>
            </a:r>
          </a:p>
          <a:p>
            <a:pPr algn="l"/>
            <a:r>
              <a:rPr sz="1050" b="0" i="0">
                <a:solidFill>
                  <a:srgbClr val="6E7B87"/>
                </a:solidFill>
                <a:latin typeface="Microsoft YaHei"/>
                <a:ea typeface="Microsoft YaHei"/>
              </a:rPr>
              <a:t>PCB frozen@seed824 的震荡(高点落在 ep9)同 seed 重跑逐一致 → 是该 (seed, 冻结配置) 的训练动力学事实, 非采样噪声。</a:t>
            </a:r>
          </a:p>
          <a:p>
            <a:pPr algn="l"/>
            <a:r>
              <a:rPr sz="1100" b="1" i="0">
                <a:solidFill>
                  <a:srgbClr val="D54B3F"/>
                </a:solidFill>
                <a:latin typeface="Microsoft YaHei"/>
                <a:ea typeface="Microsoft YaHei"/>
              </a:rPr>
              <a:t>→ 单 seed 结论在参数高效法上不可信; 稳定性本身应作为报告维度。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6437376"/>
            <a:ext cx="11201400" cy="10972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4922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E7B87"/>
                </a:solidFill>
                <a:latin typeface="Microsoft YaHei"/>
                <a:ea typeface="Microsoft YaHei"/>
              </a:rPr>
              <a:t>证据: stage3_matrix/README(补充单元表) + runs/*/train/*/results.csv 曲线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E7B87"/>
                </a:solidFill>
                <a:latin typeface="Microsoft YaHei"/>
                <a:ea typeface="Microsoft Ya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" y="420624"/>
            <a:ext cx="1133856" cy="329184"/>
          </a:xfrm>
          <a:prstGeom prst="roundRect">
            <a:avLst>
              <a:gd name="adj" fmla="val 6000"/>
            </a:avLst>
          </a:prstGeom>
          <a:solidFill>
            <a:srgbClr val="2E4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05 · 发现③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00784" y="329184"/>
            <a:ext cx="101498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i="0">
                <a:solidFill>
                  <a:srgbClr val="14222E"/>
                </a:solidFill>
                <a:latin typeface="Microsoft YaHei"/>
                <a:ea typeface="Microsoft YaHei"/>
              </a:rPr>
              <a:t>Planner 可审计: 6/6 ACCEPT、决策跨 seed/数据稳定、护栏与缺陷如实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4572000" cy="4846320"/>
          </a:xfrm>
          <a:prstGeom prst="roundRect">
            <a:avLst>
              <a:gd name="adj" fmla="val 6000"/>
            </a:avLst>
          </a:prstGeom>
          <a:solidFill>
            <a:srgbClr val="0F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AFC2D2"/>
                </a:solidFill>
                <a:latin typeface="Microsoft YaHei"/>
                <a:ea typeface="Microsoft YaHei"/>
              </a:rPr>
              <a:t>PLACEMENT · 6 个 vpeft 单元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1975104"/>
            <a:ext cx="36210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149E8C"/>
                </a:solidFill>
                <a:latin typeface="Microsoft YaHei"/>
                <a:ea typeface="Microsoft YaHei"/>
              </a:rPr>
              <a:t>6/6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788920"/>
            <a:ext cx="362102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4222E"/>
                </a:solidFill>
                <a:latin typeface="Microsoft YaHei"/>
                <a:ea typeface="Microsoft YaHei"/>
              </a:rPr>
              <a:t>ACCEPT(无 ADAPT/REFUSE)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145536"/>
            <a:ext cx="36210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E7B87"/>
                </a:solidFill>
                <a:latin typeface="Microsoft YaHei"/>
                <a:ea typeface="Microsoft YaHei"/>
              </a:rPr>
              <a:t>planner 每次给出可用放置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564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AFC2D2"/>
                </a:solidFill>
                <a:latin typeface="Microsoft YaHei"/>
                <a:ea typeface="Microsoft YaHei"/>
              </a:rPr>
              <a:t>每单元一致决策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785615"/>
            <a:ext cx="1783080" cy="914400"/>
          </a:xfrm>
          <a:prstGeom prst="roundRect">
            <a:avLst>
              <a:gd name="adj" fmla="val 6000"/>
            </a:avLst>
          </a:prstGeom>
          <a:solidFill>
            <a:srgbClr val="1B2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89534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81 targets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261104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AFC2D2"/>
                </a:solidFill>
                <a:latin typeface="Microsoft YaHei"/>
                <a:ea typeface="Microsoft YaHei"/>
              </a:rPr>
              <a:t>非头层放置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97480" y="3785615"/>
            <a:ext cx="1783080" cy="914400"/>
          </a:xfrm>
          <a:prstGeom prst="roundRect">
            <a:avLst>
              <a:gd name="adj" fmla="val 6000"/>
            </a:avLst>
          </a:prstGeom>
          <a:solidFill>
            <a:srgbClr val="1B2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16352" y="389534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rank =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6352" y="4261104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AFC2D2"/>
                </a:solidFill>
                <a:latin typeface="Microsoft YaHei"/>
                <a:ea typeface="Microsoft YaHei"/>
              </a:rPr>
              <a:t>base rank 不升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791456"/>
            <a:ext cx="1783080" cy="914400"/>
          </a:xfrm>
          <a:prstGeom prst="roundRect">
            <a:avLst>
              <a:gd name="adj" fmla="val 6000"/>
            </a:avLst>
          </a:prstGeom>
          <a:solidFill>
            <a:srgbClr val="1B2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90118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adapter 116,736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266944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AFC2D2"/>
                </a:solidFill>
                <a:latin typeface="Microsoft YaHei"/>
                <a:ea typeface="Microsoft YaHei"/>
              </a:rPr>
              <a:t>4.15% 全参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97480" y="4791456"/>
            <a:ext cx="1783080" cy="914400"/>
          </a:xfrm>
          <a:prstGeom prst="roundRect">
            <a:avLst>
              <a:gd name="adj" fmla="val 6000"/>
            </a:avLst>
          </a:prstGeom>
          <a:solidFill>
            <a:srgbClr val="1B2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16352" y="490118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465,250 有效可训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6352" y="5266944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AFC2D2"/>
                </a:solidFill>
                <a:latin typeface="Microsoft YaHei"/>
                <a:ea typeface="Microsoft YaHei"/>
              </a:rPr>
              <a:t>含 mismatch 解冻 head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94960" y="1280160"/>
            <a:ext cx="6309360" cy="484632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0" y="1481328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E4B63"/>
                </a:solidFill>
                <a:latin typeface="Microsoft YaHei"/>
                <a:ea typeface="Microsoft YaHei"/>
              </a:rPr>
              <a:t>审计点 / 护栏(逐项可复核)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1938528"/>
            <a:ext cx="5760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E4B63"/>
                </a:solidFill>
                <a:latin typeface="Microsoft YaHei"/>
                <a:ea typeface="Microsoft YaHei"/>
              </a:rPr>
              <a:t>▪ </a:t>
            </a:r>
            <a:r>
              <a:rPr sz="1200" b="1" i="0">
                <a:solidFill>
                  <a:srgbClr val="2E4B63"/>
                </a:solidFill>
                <a:latin typeface="Microsoft YaHei"/>
                <a:ea typeface="Microsoft YaHei"/>
              </a:rPr>
              <a:t>ACCEPT 的语义  </a:t>
            </a:r>
          </a:p>
          <a:p>
            <a:pPr algn="l"/>
            <a:r>
              <a:rPr sz="1050" b="0" i="0">
                <a:solidFill>
                  <a:srgbClr val="14222E"/>
                </a:solidFill>
                <a:latin typeface="Microsoft YaHei"/>
                <a:ea typeface="Microsoft YaHei"/>
              </a:rPr>
              <a:t>状态与 predicted Δ 进入 audit; vpeft 接受后 legacy planner 显式跳过(ao/dco/mip 被接管)——日志 [V-PEFT] selected … ranks= 行可 grep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0" y="2761488"/>
            <a:ext cx="5760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22E"/>
                </a:solidFill>
                <a:latin typeface="Microsoft YaHei"/>
                <a:ea typeface="Microsoft YaHei"/>
              </a:rPr>
              <a:t>▪ </a:t>
            </a:r>
            <a:r>
              <a:rPr sz="1200" b="1" i="0">
                <a:solidFill>
                  <a:srgbClr val="14222E"/>
                </a:solidFill>
                <a:latin typeface="Microsoft YaHei"/>
                <a:ea typeface="Microsoft YaHei"/>
              </a:rPr>
              <a:t>类别 mismatch(80→6)  </a:t>
            </a:r>
          </a:p>
          <a:p>
            <a:pPr algn="l"/>
            <a:r>
              <a:rPr sz="1050" b="0" i="0">
                <a:solidFill>
                  <a:srgbClr val="14222E"/>
                </a:solidFill>
                <a:latin typeface="Microsoft YaHei"/>
                <a:ea typeface="Microsoft YaHei"/>
              </a:rPr>
              <a:t>检测头重初始化并解冻 → vpeft 有效可训 465,250(16.5%), 报告不混同 adapter 口径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3584448"/>
            <a:ext cx="5760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E8B63"/>
                </a:solidFill>
                <a:latin typeface="Microsoft YaHei"/>
                <a:ea typeface="Microsoft YaHei"/>
              </a:rPr>
              <a:t>▪ </a:t>
            </a:r>
            <a:r>
              <a:rPr sz="1200" b="1" i="0">
                <a:solidFill>
                  <a:srgbClr val="2E8B63"/>
                </a:solidFill>
                <a:latin typeface="Microsoft YaHei"/>
                <a:ea typeface="Microsoft YaHei"/>
              </a:rPr>
              <a:t>strict=True 不降级  </a:t>
            </a:r>
          </a:p>
          <a:p>
            <a:pPr algn="l"/>
            <a:r>
              <a:rPr sz="1050" b="0" i="0">
                <a:solidFill>
                  <a:srgbClr val="14222E"/>
                </a:solidFill>
                <a:latin typeface="Microsoft YaHei"/>
                <a:ea typeface="Microsoft YaHei"/>
              </a:rPr>
              <a:t>任何异常直接 raise(失败即报错), 证据链干净; 未静默 fallback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0" y="4407408"/>
            <a:ext cx="5760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8A2B"/>
                </a:solidFill>
                <a:latin typeface="Microsoft YaHei"/>
                <a:ea typeface="Microsoft YaHei"/>
              </a:rPr>
              <a:t>▪ </a:t>
            </a:r>
            <a:r>
              <a:rPr sz="1200" b="1" i="0">
                <a:solidFill>
                  <a:srgbClr val="D98A2B"/>
                </a:solidFill>
                <a:latin typeface="Microsoft YaHei"/>
                <a:ea typeface="Microsoft YaHei"/>
              </a:rPr>
              <a:t>已知缺陷 cap&lt;8  </a:t>
            </a:r>
          </a:p>
          <a:p>
            <a:pPr algn="l"/>
            <a:r>
              <a:rPr sz="1050" b="0" i="0">
                <a:solidFill>
                  <a:srgbClr val="14222E"/>
                </a:solidFill>
                <a:latin typeface="Microsoft YaHei"/>
                <a:ea typeface="Microsoft YaHei"/>
              </a:rPr>
              <a:t>0.conv/routing_network.2/dfl.conv 容量 &lt; 最小候选 rank 4 → placement_plan.py:117 raise; 本次以 lora_exclude_modules 规避(子串匹配, 如实记录), 修复见 P2 issue 草稿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5230368"/>
            <a:ext cx="5760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E7B87"/>
                </a:solidFill>
                <a:latin typeface="Microsoft YaHei"/>
                <a:ea typeface="Microsoft YaHei"/>
              </a:rPr>
              <a:t>▪ </a:t>
            </a:r>
            <a:r>
              <a:rPr sz="1200" b="1" i="0">
                <a:solidFill>
                  <a:srgbClr val="6E7B87"/>
                </a:solidFill>
                <a:latin typeface="Microsoft YaHei"/>
                <a:ea typeface="Microsoft YaHei"/>
              </a:rPr>
              <a:t>LOVO / ΔmAP 口径  </a:t>
            </a:r>
          </a:p>
          <a:p>
            <a:pPr algn="l"/>
            <a:r>
              <a:rPr sz="1050" b="0" i="0">
                <a:solidFill>
                  <a:srgbClr val="14222E"/>
                </a:solidFill>
                <a:latin typeface="Microsoft YaHei"/>
                <a:ea typeface="Microsoft YaHei"/>
              </a:rPr>
              <a:t>回归护栏系数与 REFUSE 阈值(−0.05)在源码; 实测 Δ 与 predicted_delta 对应关系记入 stage4/p2 笔记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6437376"/>
            <a:ext cx="11201400" cy="10972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4922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E7B87"/>
                </a:solidFill>
                <a:latin typeface="Microsoft YaHei"/>
                <a:ea typeface="Microsoft YaHei"/>
              </a:rPr>
              <a:t>证据: stage3 runs 日志 + stage4/planner_audit_summary.md + stage2/planner_solver_notes.md §3/§5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E7B87"/>
                </a:solidFill>
                <a:latin typeface="Microsoft YaHei"/>
                <a:ea typeface="Microsoft Ya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" y="420624"/>
            <a:ext cx="1133856" cy="329184"/>
          </a:xfrm>
          <a:prstGeom prst="roundRect">
            <a:avLst>
              <a:gd name="adj" fmla="val 6000"/>
            </a:avLst>
          </a:prstGeom>
          <a:solidFill>
            <a:srgbClr val="2E8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06 · 怎么选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00784" y="329184"/>
            <a:ext cx="101498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i="0">
                <a:solidFill>
                  <a:srgbClr val="14222E"/>
                </a:solidFill>
                <a:latin typeface="Microsoft YaHei"/>
                <a:ea typeface="Microsoft YaHei"/>
              </a:rPr>
              <a:t>按约束选策略: 显存/部署受限→vpeft; 要最高最稳精度→full; 冻结不划算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3611880" cy="429768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3611880" cy="82296"/>
          </a:xfrm>
          <a:prstGeom prst="rect">
            <a:avLst/>
          </a:prstGeom>
          <a:solidFill>
            <a:srgbClr val="14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1572768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E7B87"/>
                </a:solidFill>
                <a:latin typeface="Microsoft YaHei"/>
                <a:ea typeface="Microsoft YaHei"/>
              </a:rPr>
              <a:t>场景 A · 显存 / 边缘受限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1847088"/>
            <a:ext cx="3154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49E8C"/>
                </a:solidFill>
                <a:latin typeface="Microsoft YaHei"/>
                <a:ea typeface="Microsoft YaHei"/>
              </a:rPr>
              <a:t>选 vpeft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2395728"/>
            <a:ext cx="313639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4222E"/>
                </a:solidFill>
                <a:latin typeface="Microsoft YaHei"/>
                <a:ea typeface="Microsoft YaHei"/>
              </a:rPr>
              <a:t>理由</a:t>
            </a:r>
          </a:p>
          <a:p>
            <a:pPr algn="l"/>
            <a:r>
              <a:rPr sz="1100" b="0" i="0">
                <a:solidFill>
                  <a:srgbClr val="6E7B87"/>
                </a:solidFill>
                <a:latin typeface="Microsoft YaHei"/>
                <a:ea typeface="Microsoft YaHei"/>
              </a:rPr>
              <a:t>4.15% 参数 + 4.2G 峰值显存即达 full 九成以上精度(Δ ≤ 0.11); planner 零调参自动放置。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44805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D54B3F"/>
                </a:solidFill>
                <a:latin typeface="Microsoft YaHei"/>
                <a:ea typeface="Microsoft YaHei"/>
              </a:rPr>
              <a:t>注意</a:t>
            </a:r>
          </a:p>
          <a:p>
            <a:pPr algn="l"/>
            <a:r>
              <a:rPr sz="1050" b="0" i="0">
                <a:solidFill>
                  <a:srgbClr val="6E7B87"/>
                </a:solidFill>
                <a:latin typeface="Microsoft YaHei"/>
                <a:ea typeface="Microsoft YaHei"/>
              </a:rPr>
              <a:t>避免: 精度敏感且无力复跑 seed 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371600"/>
            <a:ext cx="3611880" cy="429768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371600"/>
            <a:ext cx="3611880" cy="82296"/>
          </a:xfrm>
          <a:prstGeom prst="rect">
            <a:avLst/>
          </a:prstGeom>
          <a:solidFill>
            <a:srgbClr val="2E4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1572768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E7B87"/>
                </a:solidFill>
                <a:latin typeface="Microsoft YaHei"/>
                <a:ea typeface="Microsoft YaHei"/>
              </a:rPr>
              <a:t>场景 B · 算力充足 · 要最稳精度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1847088"/>
            <a:ext cx="3154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2E4B63"/>
                </a:solidFill>
                <a:latin typeface="Microsoft YaHei"/>
                <a:ea typeface="Microsoft YaHei"/>
              </a:rPr>
              <a:t>选 full_sft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5424" y="2395728"/>
            <a:ext cx="313639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4222E"/>
                </a:solidFill>
                <a:latin typeface="Microsoft YaHei"/>
                <a:ea typeface="Microsoft YaHei"/>
              </a:rPr>
              <a:t>理由</a:t>
            </a:r>
          </a:p>
          <a:p>
            <a:pPr algn="l"/>
            <a:r>
              <a:rPr sz="1100" b="0" i="0">
                <a:solidFill>
                  <a:srgbClr val="6E7B87"/>
                </a:solidFill>
                <a:latin typeface="Microsoft YaHei"/>
                <a:ea typeface="Microsoft YaHei"/>
              </a:rPr>
              <a:t>NEU/PCB 均最优且三 seed 零异常(sd ≤ 0.014); 免去坏 seed 排查成本。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44805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D54B3F"/>
                </a:solidFill>
                <a:latin typeface="Microsoft YaHei"/>
                <a:ea typeface="Microsoft YaHei"/>
              </a:rPr>
              <a:t>注意</a:t>
            </a:r>
          </a:p>
          <a:p>
            <a:pPr algn="l"/>
            <a:r>
              <a:rPr sz="1050" b="0" i="0">
                <a:solidFill>
                  <a:srgbClr val="6E7B87"/>
                </a:solidFill>
                <a:latin typeface="Microsoft YaHei"/>
                <a:ea typeface="Microsoft YaHei"/>
              </a:rPr>
              <a:t>代价: 显存多 1.2G, 参数 2.81M 全反传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371600"/>
            <a:ext cx="3611880" cy="429768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371600"/>
            <a:ext cx="3611880" cy="82296"/>
          </a:xfrm>
          <a:prstGeom prst="rect">
            <a:avLst/>
          </a:prstGeom>
          <a:solidFill>
            <a:srgbClr val="D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0184" y="1572768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E7B87"/>
                </a:solidFill>
                <a:latin typeface="Microsoft YaHei"/>
                <a:ea typeface="Microsoft YaHei"/>
              </a:rPr>
              <a:t>场景 C · 少调参的“冻结”方案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0184" y="1847088"/>
            <a:ext cx="3154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D98A2B"/>
                </a:solidFill>
                <a:latin typeface="Microsoft YaHei"/>
                <a:ea typeface="Microsoft YaHei"/>
              </a:rPr>
              <a:t>不太推荐 frozen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0184" y="2395728"/>
            <a:ext cx="313639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4222E"/>
                </a:solidFill>
                <a:latin typeface="Microsoft YaHei"/>
                <a:ea typeface="Microsoft YaHei"/>
              </a:rPr>
              <a:t>理由</a:t>
            </a:r>
          </a:p>
          <a:p>
            <a:pPr algn="l"/>
            <a:r>
              <a:rPr sz="1100" b="0" i="0">
                <a:solidFill>
                  <a:srgbClr val="6E7B87"/>
                </a:solidFill>
                <a:latin typeface="Microsoft YaHei"/>
                <a:ea typeface="Microsoft YaHei"/>
              </a:rPr>
              <a:t>可训参数只省 32%(67.8% 仍在训)却引入 seed 偶发与确定性震荡(PCB@824)。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0184" y="44805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D54B3F"/>
                </a:solidFill>
                <a:latin typeface="Microsoft YaHei"/>
                <a:ea typeface="Microsoft YaHei"/>
              </a:rPr>
              <a:t>注意</a:t>
            </a:r>
          </a:p>
          <a:p>
            <a:pPr algn="l"/>
            <a:r>
              <a:rPr sz="1050" b="0" i="0">
                <a:solidFill>
                  <a:srgbClr val="6E7B87"/>
                </a:solidFill>
                <a:latin typeface="Microsoft YaHei"/>
                <a:ea typeface="Microsoft YaHei"/>
              </a:rPr>
              <a:t>除非工具链强制冻结接口, 否则无性价比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22E"/>
                </a:solidFill>
                <a:latin typeface="Microsoft YaHei"/>
                <a:ea typeface="Microsoft YaHei"/>
              </a:rPr>
              <a:t>判定依据: </a:t>
            </a:r>
            <a:r>
              <a:rPr sz="1050" b="0" i="0">
                <a:solidFill>
                  <a:srgbClr val="6E7B87"/>
                </a:solidFill>
                <a:latin typeface="Microsoft YaHei"/>
                <a:ea typeface="Microsoft YaHei"/>
              </a:rPr>
              <a:t>stage4/README.md 表 1-2(mean/sd/配对差) · 表 3(参数/显存/时长) · 稳健口径定义见同文件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6437376"/>
            <a:ext cx="11201400" cy="10972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E7B87"/>
                </a:solidFill>
                <a:latin typeface="Microsoft YaHei"/>
                <a:ea typeface="Microsoft YaHei"/>
              </a:rPr>
              <a:t>证据: stage4_analysis/README.md(结论判读节)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E7B87"/>
                </a:solidFill>
                <a:latin typeface="Microsoft YaHei"/>
                <a:ea typeface="Microsoft Ya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" y="420624"/>
            <a:ext cx="1133856" cy="329184"/>
          </a:xfrm>
          <a:prstGeom prst="roundRect">
            <a:avLst>
              <a:gd name="adj" fmla="val 6000"/>
            </a:avLst>
          </a:prstGeom>
          <a:solidFill>
            <a:srgbClr val="2E4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07 · 证据链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00784" y="329184"/>
            <a:ext cx="101498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i="0">
                <a:solidFill>
                  <a:srgbClr val="14222E"/>
                </a:solidFill>
                <a:latin typeface="Microsoft YaHei"/>
                <a:ea typeface="Microsoft YaHei"/>
              </a:rPr>
              <a:t>每条结论都给了评审一条可查证的路径(文件/git/复现包)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25880"/>
          <a:ext cx="7040880" cy="3456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834640"/>
                <a:gridCol w="2286000"/>
              </a:tblGrid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结论</a:t>
                      </a:r>
                    </a:p>
                  </a:txBody>
                  <a:tcPr marL="64008" marR="54864" marT="10972" marB="10972" anchor="ctr">
                    <a:solidFill>
                      <a:srgbClr val="1422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证据文件(均已入库)</a:t>
                      </a:r>
                    </a:p>
                  </a:txBody>
                  <a:tcPr marL="64008" marR="54864" marT="10972" marB="10972" anchor="ctr">
                    <a:solidFill>
                      <a:srgbClr val="1422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内容</a:t>
                      </a:r>
                    </a:p>
                  </a:txBody>
                  <a:tcPr marL="64008" marR="54864" marT="10972" marB="10972" anchor="ctr">
                    <a:solidFill>
                      <a:srgbClr val="14222E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精度与稳定性</a:t>
                      </a:r>
                    </a:p>
                  </a:txBody>
                  <a:tcPr marL="64008" marR="54864" marT="10972" marB="1097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stage3_matrix/evidence_summary.csv · runs/*/results.csv</a:t>
                      </a:r>
                    </a:p>
                  </a:txBody>
                  <a:tcPr marL="64008" marR="54864" marT="10972" marB="1097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21 单元 best-mAP50 + 逐 epoch 曲线 + 显存峰值</a:t>
                      </a:r>
                    </a:p>
                  </a:txBody>
                  <a:tcPr marL="64008" marR="54864" marT="10972" marB="10972" anchor="ctr">
                    <a:solidFill>
                      <a:srgbClr val="F2F6F8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统计(mean/sd/CI/配对差)</a:t>
                      </a:r>
                    </a:p>
                  </a:txBody>
                  <a:tcPr marL="64008" marR="54864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stage4_analysis/comparison_tables.md</a:t>
                      </a:r>
                    </a:p>
                  </a:txBody>
                  <a:tcPr marL="64008" marR="54864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3-seed 统计 + 稳健口径 + 四维表</a:t>
                      </a:r>
                    </a:p>
                  </a:txBody>
                  <a:tcPr marL="64008" marR="54864" marT="10972" marB="10972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Planner 审计</a:t>
                      </a:r>
                    </a:p>
                  </a:txBody>
                  <a:tcPr marL="64008" marR="54864" marT="10972" marB="1097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stage4_analysis/planner_audit_summary.md</a:t>
                      </a:r>
                    </a:p>
                  </a:txBody>
                  <a:tcPr marL="64008" marR="54864" marT="10972" marB="1097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ACCEPT 分布 / 护栏 / ΔmAP 口径</a:t>
                      </a:r>
                    </a:p>
                  </a:txBody>
                  <a:tcPr marL="64008" marR="54864" marT="10972" marB="10972" anchor="ctr">
                    <a:solidFill>
                      <a:srgbClr val="F2F6F8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许可 / SHA / 环境</a:t>
                      </a:r>
                    </a:p>
                  </a:txBody>
                  <a:tcPr marL="64008" marR="54864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stage1_env_data/README.md</a:t>
                      </a:r>
                    </a:p>
                  </a:txBody>
                  <a:tcPr marL="64008" marR="54864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NEU-DET/DeepPCB 来源与哈希留档</a:t>
                      </a:r>
                    </a:p>
                  </a:txBody>
                  <a:tcPr marL="64008" marR="54864" marT="10972" marB="10972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复现一键组装</a:t>
                      </a:r>
                    </a:p>
                  </a:txBody>
                  <a:tcPr marL="64008" marR="54864" marT="10972" marB="1097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stage5_pr_delivery/reproduction/</a:t>
                      </a:r>
                    </a:p>
                  </a:txBody>
                  <a:tcPr marL="64008" marR="54864" marT="10972" marB="10972" anchor="ctr"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命令样例 · paths.env · 数据转换脚本 · 统计表</a:t>
                      </a:r>
                    </a:p>
                  </a:txBody>
                  <a:tcPr marL="64008" marR="54864" marT="10972" marB="10972" anchor="ctr">
                    <a:solidFill>
                      <a:srgbClr val="F2F6F8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缺陷取证(P2)</a:t>
                      </a:r>
                    </a:p>
                  </a:txBody>
                  <a:tcPr marL="64008" marR="54864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stage4_analysis/p2/planner_bug_issue.md</a:t>
                      </a:r>
                    </a:p>
                  </a:txBody>
                  <a:tcPr marL="64008" marR="54864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4222E"/>
                          </a:solidFill>
                          <a:latin typeface="Microsoft YaHei"/>
                          <a:ea typeface="Microsoft YaHei"/>
                        </a:rPr>
                        <a:t>cap&lt;8 ValueError 源码行号 + 建议修复</a:t>
                      </a:r>
                    </a:p>
                  </a:txBody>
                  <a:tcPr marL="64008" marR="54864" marT="10972" marB="1097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818120" y="1325880"/>
            <a:ext cx="3886200" cy="2194560"/>
          </a:xfrm>
          <a:prstGeom prst="roundRect">
            <a:avLst>
              <a:gd name="adj" fmla="val 6000"/>
            </a:avLst>
          </a:prstGeom>
          <a:solidFill>
            <a:srgbClr val="0F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508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AFC2D2"/>
                </a:solidFill>
                <a:latin typeface="Microsoft YaHei"/>
                <a:ea typeface="Microsoft YaHei"/>
              </a:rPr>
              <a:t>GIT · 8 本地 commit(逐 PR 四节)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8288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9E8C"/>
                </a:solidFill>
                <a:latin typeface="Microsoft YaHei"/>
                <a:ea typeface="Microsoft YaHei"/>
              </a:rPr>
              <a:t>▸ </a:t>
            </a:r>
            <a:r>
              <a:rPr sz="1050" b="0" i="0">
                <a:solidFill>
                  <a:srgbClr val="FFFFFF"/>
                </a:solidFill>
                <a:latin typeface="Microsoft YaHei"/>
                <a:ea typeface="Microsoft YaHei"/>
              </a:rPr>
              <a:t>stage1 env+data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15798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9E8C"/>
                </a:solidFill>
                <a:latin typeface="Microsoft YaHei"/>
                <a:ea typeface="Microsoft YaHei"/>
              </a:rPr>
              <a:t>▸ </a:t>
            </a:r>
            <a:r>
              <a:rPr sz="1050" b="0" i="0">
                <a:solidFill>
                  <a:srgbClr val="FFFFFF"/>
                </a:solidFill>
                <a:latin typeface="Microsoft YaHei"/>
                <a:ea typeface="Microsoft YaHei"/>
              </a:rPr>
              <a:t>stage2 server smoke (BF-01 修复)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48716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9E8C"/>
                </a:solidFill>
                <a:latin typeface="Microsoft YaHei"/>
                <a:ea typeface="Microsoft YaHei"/>
              </a:rPr>
              <a:t>▸ </a:t>
            </a:r>
            <a:r>
              <a:rPr sz="1050" b="0" i="0">
                <a:solidFill>
                  <a:srgbClr val="FFFFFF"/>
                </a:solidFill>
                <a:latin typeface="Microsoft YaHei"/>
                <a:ea typeface="Microsoft YaHei"/>
              </a:rPr>
              <a:t>stage3 matrix + 21 单元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81635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9E8C"/>
                </a:solidFill>
                <a:latin typeface="Microsoft YaHei"/>
                <a:ea typeface="Microsoft YaHei"/>
              </a:rPr>
              <a:t>▸ </a:t>
            </a:r>
            <a:r>
              <a:rPr sz="1050" b="0" i="0">
                <a:solidFill>
                  <a:srgbClr val="FFFFFF"/>
                </a:solidFill>
                <a:latin typeface="Microsoft YaHei"/>
                <a:ea typeface="Microsoft YaHei"/>
              </a:rPr>
              <a:t>stage4 stats + audit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145536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9E8C"/>
                </a:solidFill>
                <a:latin typeface="Microsoft YaHei"/>
                <a:ea typeface="Microsoft YaHei"/>
              </a:rPr>
              <a:t>▸ </a:t>
            </a:r>
            <a:r>
              <a:rPr sz="1050" b="0" i="0">
                <a:solidFill>
                  <a:srgbClr val="FFFFFF"/>
                </a:solidFill>
                <a:latin typeface="Microsoft YaHei"/>
                <a:ea typeface="Microsoft YaHei"/>
              </a:rPr>
              <a:t>stage5 复现包 + 报告 + PPT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3703320"/>
            <a:ext cx="3886200" cy="242316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3886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2E4B63"/>
                </a:solidFill>
                <a:latin typeface="Microsoft YaHei"/>
                <a:ea typeface="Microsoft YaHei"/>
              </a:rPr>
              <a:t>一键复现路径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20624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22E"/>
                </a:solidFill>
                <a:latin typeface="Microsoft YaHei"/>
                <a:ea typeface="Microsoft YaHei"/>
              </a:rPr>
              <a:t>python stage5/assemble_reproduction.py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66344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22E"/>
                </a:solidFill>
                <a:latin typeface="Microsoft YaHei"/>
                <a:ea typeface="Microsoft YaHei"/>
              </a:rPr>
              <a:t>→ reproduction/(命令/脚本/env/统计)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512064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22E"/>
                </a:solidFill>
                <a:latin typeface="Microsoft YaHei"/>
                <a:ea typeface="Microsoft YaHei"/>
              </a:rPr>
              <a:t>三策略命令样例 → 修改 seed/device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557784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22E"/>
                </a:solidFill>
                <a:latin typeface="Microsoft YaHei"/>
                <a:ea typeface="Microsoft YaHei"/>
              </a:rPr>
              <a:t>补充单元: run_supplement.py 自愈调度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437376"/>
            <a:ext cx="11201400" cy="10972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4922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E7B87"/>
                </a:solidFill>
                <a:latin typeface="Microsoft YaHei"/>
                <a:ea typeface="Microsoft YaHei"/>
              </a:rPr>
              <a:t>证据: git ls-files c3_work/ 全量证据 + stage5_pr_delivery/reproduction/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E7B87"/>
                </a:solidFill>
                <a:latin typeface="Microsoft YaHei"/>
                <a:ea typeface="Microsoft Ya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" y="420624"/>
            <a:ext cx="1133856" cy="329184"/>
          </a:xfrm>
          <a:prstGeom prst="roundRect">
            <a:avLst>
              <a:gd name="adj" fmla="val 6000"/>
            </a:avLst>
          </a:prstGeom>
          <a:solidFill>
            <a:srgbClr val="6E7B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448056"/>
            <a:ext cx="11338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icrosoft YaHei"/>
                <a:ea typeface="Microsoft YaHei"/>
              </a:rPr>
              <a:t>08 · 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00784" y="329184"/>
            <a:ext cx="101498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i="0">
                <a:solidFill>
                  <a:srgbClr val="14222E"/>
                </a:solidFill>
                <a:latin typeface="Microsoft YaHei"/>
                <a:ea typeface="Microsoft YaHei"/>
              </a:rPr>
              <a:t>边界声明: 这些数字为什么不能外推太远(评审先看这里)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86868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82296" cy="868680"/>
          </a:xfrm>
          <a:prstGeom prst="rect">
            <a:avLst/>
          </a:prstGeom>
          <a:solidFill>
            <a:srgbClr val="6E7B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5389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22E"/>
                </a:solidFill>
                <a:latin typeface="Microsoft YaHei"/>
                <a:ea typeface="Microsoft YaHei"/>
              </a:rPr>
              <a:t>样本量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453896"/>
            <a:ext cx="90525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4222E"/>
                </a:solidFill>
                <a:latin typeface="Microsoft YaHei"/>
                <a:ea typeface="Microsoft YaHei"/>
              </a:rPr>
              <a:t>n = 3-4 seed, CI 宽(±0.23~0.34 全口径); 偶发率 ~1/4 仅作警示, 不推总概率。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1572768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6E7B87"/>
                </a:solidFill>
                <a:latin typeface="Microsoft YaHei"/>
                <a:ea typeface="Microsoft YaHei"/>
              </a:rPr>
              <a:t>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04288"/>
            <a:ext cx="11201400" cy="86868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304288"/>
            <a:ext cx="82296" cy="868680"/>
          </a:xfrm>
          <a:prstGeom prst="rect">
            <a:avLst/>
          </a:prstGeom>
          <a:solidFill>
            <a:srgbClr val="6E7B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386584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22E"/>
                </a:solidFill>
                <a:latin typeface="Microsoft YaHei"/>
                <a:ea typeface="Microsoft YaHei"/>
              </a:rPr>
              <a:t>模型规模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386584"/>
            <a:ext cx="90525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4222E"/>
                </a:solidFill>
                <a:latin typeface="Microsoft YaHei"/>
                <a:ea typeface="Microsoft YaHei"/>
              </a:rPr>
              <a:t>EsMoE-N 全参仅 2.8M: LoRA 相对全量的参数优势被小基数压缩; 结论不必然迁移到更大模型。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2505456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6E7B87"/>
                </a:solidFill>
                <a:latin typeface="Microsoft YaHei"/>
                <a:ea typeface="Microsoft YaHei"/>
              </a:rPr>
              <a:t>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36976"/>
            <a:ext cx="11201400" cy="86868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236976"/>
            <a:ext cx="82296" cy="868680"/>
          </a:xfrm>
          <a:prstGeom prst="rect">
            <a:avLst/>
          </a:prstGeom>
          <a:solidFill>
            <a:srgbClr val="6E7B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31927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22E"/>
                </a:solidFill>
                <a:latin typeface="Microsoft YaHei"/>
                <a:ea typeface="Microsoft YaHei"/>
              </a:rPr>
              <a:t>数据域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319272"/>
            <a:ext cx="90525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4222E"/>
                </a:solidFill>
                <a:latin typeface="Microsoft YaHei"/>
                <a:ea typeface="Microsoft YaHei"/>
              </a:rPr>
              <a:t>两数据集(工业表面/PCB 缺陷), 分辨率与类别数有限; NEU-DET 镜像无显式 LICENSE(SHA-256 留档)。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3438144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6E7B87"/>
                </a:solidFill>
                <a:latin typeface="Microsoft YaHei"/>
                <a:ea typeface="Microsoft YaHei"/>
              </a:rPr>
              <a:t>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69664"/>
            <a:ext cx="11201400" cy="86868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169664"/>
            <a:ext cx="82296" cy="868680"/>
          </a:xfrm>
          <a:prstGeom prst="rect">
            <a:avLst/>
          </a:prstGeom>
          <a:solidFill>
            <a:srgbClr val="6E7B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2519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22E"/>
                </a:solidFill>
                <a:latin typeface="Microsoft YaHei"/>
                <a:ea typeface="Microsoft YaHei"/>
              </a:rPr>
              <a:t>预算形态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251960"/>
            <a:ext cx="90525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4222E"/>
                </a:solidFill>
                <a:latin typeface="Microsoft YaHei"/>
                <a:ea typeface="Microsoft YaHei"/>
              </a:rPr>
              <a:t>同 epochs 预算下时长持平(数据管线瓶颈); 若改为“同 wall-clock”预算, 结论排序可能变化, 未测。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437083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6E7B87"/>
                </a:solidFill>
                <a:latin typeface="Microsoft YaHei"/>
                <a:ea typeface="Microsoft YaHei"/>
              </a:rPr>
              <a:t>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102352"/>
            <a:ext cx="11201400" cy="868680"/>
          </a:xfrm>
          <a:prstGeom prst="roundRect">
            <a:avLst>
              <a:gd name="adj" fmla="val 6000"/>
            </a:avLst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102352"/>
            <a:ext cx="82296" cy="868680"/>
          </a:xfrm>
          <a:prstGeom prst="rect">
            <a:avLst/>
          </a:prstGeom>
          <a:solidFill>
            <a:srgbClr val="6E7B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18464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222E"/>
                </a:solidFill>
                <a:latin typeface="Microsoft YaHei"/>
                <a:ea typeface="Microsoft YaHei"/>
              </a:rPr>
              <a:t>策略实现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5184648"/>
            <a:ext cx="905256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4222E"/>
                </a:solidFill>
                <a:latin typeface="Microsoft YaHei"/>
                <a:ea typeface="Microsoft YaHei"/>
              </a:rPr>
              <a:t>vpeft=当前 planner(rank 8/ao solver); frozen=freeze=11 单档, 未扫冻结深度。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530352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6E7B87"/>
                </a:solidFill>
                <a:latin typeface="Microsoft YaHei"/>
                <a:ea typeface="Microsoft YaHei"/>
              </a:rPr>
              <a:t>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089904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D98A2B"/>
                </a:solidFill>
                <a:latin typeface="Microsoft YaHei"/>
                <a:ea typeface="Microsoft YaHei"/>
              </a:rPr>
              <a:t>凡涉及外推(其他数据/更大模型/其他预算定义)均须重测; 本包已备好重测工具链。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6437376"/>
            <a:ext cx="11201400" cy="10972"/>
          </a:xfrm>
          <a:prstGeom prst="rect">
            <a:avLst/>
          </a:prstGeom>
          <a:solidFill>
            <a:srgbClr val="DC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649224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E7B87"/>
                </a:solidFill>
                <a:latin typeface="Microsoft YaHei"/>
                <a:ea typeface="Microsoft YaHei"/>
              </a:rPr>
              <a:t>证据: stage5/report_final.md §4 局限 与 stage4/README 口径红线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6E7B87"/>
                </a:solidFill>
                <a:latin typeface="Microsoft YaHei"/>
                <a:ea typeface="Microsoft Ya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14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8FA3B5"/>
                </a:solidFill>
                <a:latin typeface="Microsoft YaHei"/>
                <a:ea typeface="Microsoft YaHei"/>
              </a:rPr>
              <a:t>一句话带走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1106424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V-PEFT 在 2.8M 小模型上的答案: </a:t>
            </a:r>
          </a:p>
          <a:p>
            <a:pPr algn="l"/>
            <a:r>
              <a:rPr sz="2400" b="1" i="0">
                <a:solidFill>
                  <a:srgbClr val="149E8C"/>
                </a:solidFill>
                <a:latin typeface="Microsoft YaHei"/>
                <a:ea typeface="Microsoft YaHei"/>
              </a:rPr>
              <a:t>“低参数 / 低显存拿九成精度 —— 代价写进了 seed 分布里”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2140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AFC2D2"/>
                </a:solidFill>
                <a:latin typeface="Microsoft YaHei"/>
                <a:ea typeface="Microsoft YaHei"/>
              </a:rPr>
              <a:t>三策略一句话结论(完整对照见 stage4)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B2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606040"/>
            <a:ext cx="3566160" cy="64008"/>
          </a:xfrm>
          <a:prstGeom prst="rect">
            <a:avLst/>
          </a:prstGeom>
          <a:solidFill>
            <a:srgbClr val="2E4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</a:rPr>
              <a:t>full_sft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04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E4B63"/>
                </a:solidFill>
                <a:latin typeface="Microsoft YaHei"/>
                <a:ea typeface="Microsoft YaHei"/>
              </a:rPr>
              <a:t>0.767 / 0.989  |  sd ≤ 0.014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11880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FC2D2"/>
                </a:solidFill>
                <a:latin typeface="Microsoft YaHei"/>
                <a:ea typeface="Microsoft YaHei"/>
              </a:rPr>
              <a:t>最高且最稳的基线; 要精度就选它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60604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B2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606040"/>
            <a:ext cx="3566160" cy="64008"/>
          </a:xfrm>
          <a:prstGeom prst="rect">
            <a:avLst/>
          </a:prstGeom>
          <a:solidFill>
            <a:srgbClr val="149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7889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</a:rPr>
              <a:t>vpeft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2004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49E8C"/>
                </a:solidFill>
                <a:latin typeface="Microsoft YaHei"/>
                <a:ea typeface="Microsoft YaHei"/>
              </a:rPr>
              <a:t>0.694* / 0.881  |  4.15% 参数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611880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FC2D2"/>
                </a:solidFill>
                <a:latin typeface="Microsoft YaHei"/>
                <a:ea typeface="Microsoft YaHei"/>
              </a:rPr>
              <a:t>省 95.8% 参数+1.2G 显存, 接受偶发风险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60604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B2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2606040"/>
            <a:ext cx="3566160" cy="64008"/>
          </a:xfrm>
          <a:prstGeom prst="rect">
            <a:avLst/>
          </a:prstGeom>
          <a:solidFill>
            <a:srgbClr val="D9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27889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</a:rPr>
              <a:t>frozen_backbone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32004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D98A2B"/>
                </a:solidFill>
                <a:latin typeface="Microsoft YaHei"/>
                <a:ea typeface="Microsoft YaHei"/>
              </a:rPr>
              <a:t>0.694* / 0.769  |  67.8% 可训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611880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FC2D2"/>
                </a:solidFill>
                <a:latin typeface="Microsoft YaHei"/>
                <a:ea typeface="Microsoft YaHei"/>
              </a:rPr>
              <a:t>省得少还添乱, 不推荐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68172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AFC2D2"/>
                </a:solidFill>
                <a:latin typeface="Microsoft YaHei"/>
                <a:ea typeface="Microsoft YaHei"/>
              </a:rPr>
              <a:t>待办 / 下一步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074920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9E8C"/>
                </a:solidFill>
                <a:latin typeface="Microsoft YaHei"/>
                <a:ea typeface="Microsoft YaHei"/>
              </a:rPr>
              <a:t>▸ </a:t>
            </a: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</a:rPr>
              <a:t>① 手动 push  </a:t>
            </a:r>
            <a:r>
              <a:rPr sz="1100" b="0" i="0">
                <a:solidFill>
                  <a:srgbClr val="AFC2D2"/>
                </a:solidFill>
                <a:latin typeface="Microsoft YaHei"/>
                <a:ea typeface="Microsoft YaHei"/>
              </a:rPr>
              <a:t>8 个本地 commit → fork lycyhrc/YOLO-Master:c3-vpeft-smoke(按 PR 四节)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532120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9E8C"/>
                </a:solidFill>
                <a:latin typeface="Microsoft YaHei"/>
                <a:ea typeface="Microsoft YaHei"/>
              </a:rPr>
              <a:t>▸ </a:t>
            </a: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</a:rPr>
              <a:t>② P2 issue  </a:t>
            </a:r>
            <a:r>
              <a:rPr sz="1100" b="0" i="0">
                <a:solidFill>
                  <a:srgbClr val="AFC2D2"/>
                </a:solidFill>
                <a:latin typeface="Microsoft YaHei"/>
                <a:ea typeface="Microsoft YaHei"/>
              </a:rPr>
              <a:t>planner cap&lt;8 修复 PR(草稿已备) + case-embedding 调研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989320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9E8C"/>
                </a:solidFill>
                <a:latin typeface="Microsoft YaHei"/>
                <a:ea typeface="Microsoft YaHei"/>
              </a:rPr>
              <a:t>▸ </a:t>
            </a: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</a:rPr>
              <a:t>③ 可选扩展  </a:t>
            </a:r>
            <a:r>
              <a:rPr sz="1100" b="0" i="0">
                <a:solidFill>
                  <a:srgbClr val="AFC2D2"/>
                </a:solidFill>
                <a:latin typeface="Microsoft YaHei"/>
                <a:ea typeface="Microsoft YaHei"/>
              </a:rPr>
              <a:t>k=5/10/50/100 档位曲线(数据已就绪), GPU 低峰 run_supplement 即可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32764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3B5"/>
                </a:solidFill>
                <a:latin typeface="Microsoft YaHei"/>
                <a:ea typeface="Microsoft YaHei"/>
              </a:rPr>
              <a:t>数字来源: stage3_matrix/runs(21 单元) · stage4_analysis(2026-09-07 定稿)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