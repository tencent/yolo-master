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777240"/>
            <a:ext cx="91440" cy="6583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AFC2D2"/>
                </a:solidFill>
                <a:latin typeface="Microsoft YaHei"/>
                <a:ea typeface="Microsoft YaHei"/>
              </a:rPr>
              <a:t>腾讯犀牛鸟精英培养计划 · C3 课题  |  结项汇报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11155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149E8C"/>
                </a:solidFill>
                <a:latin typeface="Microsoft YaHei"/>
                <a:ea typeface="Microsoft YaHei"/>
              </a:rPr>
              <a:t>V-PEFT</a:t>
            </a: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</a:rPr>
              <a:t>  × 小样本工业缺陷检测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3063240"/>
            <a:ext cx="10607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D8E2EA"/>
                </a:solidFill>
                <a:latin typeface="Microsoft YaHei"/>
                <a:ea typeface="Microsoft YaHei"/>
              </a:rPr>
              <a:t>以 4.15% 的可训参数逼近全量微调——差距与稳定性边界的 3-seed 受控测量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7" y="4343400"/>
            <a:ext cx="2671572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4343400"/>
            <a:ext cx="26715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YOLO-Master EsMoE-N · 全参 2.8M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0524" y="4343400"/>
            <a:ext cx="2216150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0524" y="4343400"/>
            <a:ext cx="221615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NEU-DET 1800 张 · DeepPCB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84418" y="4343400"/>
            <a:ext cx="2082037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84418" y="4343400"/>
            <a:ext cx="2082037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3 策略 × 3 seed × 同预算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4199" y="4343400"/>
            <a:ext cx="2146300" cy="310896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4199" y="4343400"/>
            <a:ext cx="21463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D8E2EA"/>
                </a:solidFill>
                <a:latin typeface="Microsoft YaHei"/>
                <a:ea typeface="Microsoft YaHei"/>
              </a:rPr>
              <a:t>21 训练单元 · 全部 exit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7" y="6126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3B5"/>
                </a:solidFill>
                <a:latin typeface="Microsoft YaHei"/>
                <a:ea typeface="Microsoft YaHei"/>
              </a:rPr>
              <a:t>stage1→5 全链路证据 · 逐 PR 可评审 · reproduction/ 一键复现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126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3B5"/>
                </a:solidFill>
                <a:latin typeface="Microsoft YaHei"/>
                <a:ea typeface="Microsoft YaHei"/>
              </a:rPr>
              <a:t>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01 · 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先定一场“没有借口的对照”：同预算、3 seed、唯一变量 =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07008"/>
            <a:ext cx="6903720" cy="1755648"/>
          </a:xfrm>
          <a:prstGeom prst="roundRect">
            <a:avLst>
              <a:gd name="adj" fmla="val 6000"/>
            </a:avLst>
          </a:prstGeom>
          <a:solidFill>
            <a:srgbClr val="E3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35331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0E6E62"/>
                </a:solidFill>
                <a:latin typeface="Microsoft YaHei"/>
                <a:ea typeface="Microsoft YaHei"/>
              </a:rPr>
              <a:t>要回答的问题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82496"/>
            <a:ext cx="64008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14222E"/>
                </a:solidFill>
                <a:latin typeface="Microsoft YaHei"/>
                <a:ea typeface="Microsoft YaHei"/>
              </a:rPr>
              <a:t>同等训练预算下，</a:t>
            </a:r>
            <a:r>
              <a:rPr sz="1350" b="1" i="0">
                <a:solidFill>
                  <a:srgbClr val="149E8C"/>
                </a:solidFill>
                <a:latin typeface="Microsoft YaHei"/>
                <a:ea typeface="Microsoft YaHei"/>
              </a:rPr>
              <a:t>V-PEFT</a:t>
            </a:r>
            <a:r>
              <a:rPr sz="1350" b="0" i="0">
                <a:solidFill>
                  <a:srgbClr val="14222E"/>
                </a:solidFill>
                <a:latin typeface="Microsoft YaHei"/>
                <a:ea typeface="Microsoft YaHei"/>
              </a:rPr>
              <a:t>(LoRA + planner 自动放置) vs “全量微调 / 冻结主干”——在 2.8M 小模型 + 小样本工业缺陷数据上，精度守住多少、代价几何？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08960"/>
            <a:ext cx="6903720" cy="2999232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255264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公平协议（怎么保证结论不是器材或运气）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39312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唯一变量 = 策略：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同预算 epochs=100 · batch=8 · imgsz=640 · amp=false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97096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不只信一个 seed：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seed 824/2024/777 各 3 个；另加 3 个补充单元做稳定性/确定性验证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指标口径防误导：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best-mAP50(取各 epoch 最优, 非末行) · 显存取日志峰值 · 时长/单元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12664"/>
            <a:ext cx="63093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执行可中断可审计：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done 标记 + resume, 8×A800 共享排队, 21/21 exit 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98448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0" y="1298448"/>
            <a:ext cx="128016" cy="1572768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83296" y="1426464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full_sft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全量微调(基线)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83296" y="1810512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E4B63"/>
                </a:solidFill>
                <a:latin typeface="Microsoft YaHei"/>
                <a:ea typeface="Microsoft YaHei"/>
              </a:rPr>
              <a:t>2,813,626 可训(100%), 整网反传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2916936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0" y="2916936"/>
            <a:ext cx="128016" cy="157276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3044952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vpeft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V-PEFT +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3429000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adapter 116,736(4.15%); +解冻 head 465,250(16.5%)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535424"/>
            <a:ext cx="3913632" cy="1572768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4535424"/>
            <a:ext cx="128016" cy="157276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663440"/>
            <a:ext cx="3364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4222E"/>
                </a:solidFill>
                <a:latin typeface="Microsoft YaHei"/>
                <a:ea typeface="Microsoft YaHei"/>
              </a:rPr>
              <a:t>frozen_backbone</a:t>
            </a:r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   freeze=11 冻结主干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5047488"/>
            <a:ext cx="33101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</a:rPr>
              <a:t>1,906,822 可训(67.8%)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852160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训练数据: 每(策略×seed)使用相同 k=10 全量子集(184 张), 唯一差异=可训练范围与放法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stage1_env_data/README + stage3_matrix/matrix.json(21 单元定义)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02 · 答案轮廓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预算相同 → 参数省 95.8%、精度只低 ~0.07(NEU)/~0.11(PCB)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98448"/>
          <a:ext cx="6949440" cy="3282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1143000"/>
                <a:gridCol w="1554480"/>
                <a:gridCol w="2377440"/>
                <a:gridCol w="9144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数据集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mAP50 mean±sd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seed 明细(best)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相对 full</a:t>
                      </a:r>
                    </a:p>
                  </a:txBody>
                  <a:tcPr marL="64008" marR="64008" marT="13716" marB="13716" anchor="ctr">
                    <a:solidFill>
                      <a:srgbClr val="1422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E4B63"/>
                          </a:solidFill>
                          <a:latin typeface="Microsoft YaHei"/>
                          <a:ea typeface="Microsoft YaHei"/>
                        </a:rPr>
                        <a:t>full_sft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0.767 ± 0.014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0.752 / 0.780 / 0.768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9E8C"/>
                          </a:solidFill>
                          <a:latin typeface="Microsoft YaHei"/>
                          <a:ea typeface="Microsoft YaHei"/>
                        </a:rPr>
                        <a:t>vpeft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0.694 ± 0.052*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0.691 / 0.369⚠ / 0.746 / 0.644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−0.073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frozen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0.694 ± 0.041*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0.685 / 0.210⚠ / 0.659 / 0.739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−0.073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E4B63"/>
                          </a:solidFill>
                          <a:latin typeface="Microsoft YaHei"/>
                          <a:ea typeface="Microsoft YaHei"/>
                        </a:rPr>
                        <a:t>full_sft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0.989 ± 0.001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0.989 / 0.989 / 0.990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9E8C"/>
                          </a:solidFill>
                          <a:latin typeface="Microsoft YaHei"/>
                          <a:ea typeface="Microsoft YaHei"/>
                        </a:rPr>
                        <a:t>vpeft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0.881 ± 0.072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0.864 / 0.819 / 0.961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−0.108</a:t>
                      </a:r>
                    </a:p>
                  </a:txBody>
                  <a:tcPr marL="64008" marR="64008" marT="13716" marB="13716" anchor="ctr">
                    <a:solidFill>
                      <a:srgbClr val="EAF1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frozen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0.769 ± 0.151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D98A2B"/>
                          </a:solidFill>
                          <a:latin typeface="Microsoft YaHei"/>
                          <a:ea typeface="Microsoft YaHei"/>
                        </a:rPr>
                        <a:t>0.639⚠ / 0.891 / 0.907 / 0.639⚠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−0.220</a:t>
                      </a:r>
                    </a:p>
                  </a:txBody>
                  <a:tcPr marL="64008" marR="64008" marT="13716" marB="13716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159"/>
            <a:ext cx="6949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* NEU vpeft/frozen 为稳健口径(剔除 1 个偶发 seed, n=3; 全 4-seed 均值 0.612/0.573)</a:t>
            </a:r>
          </a:p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⚠ = 收敛异常(seed 偶发或确定性动力学, 详见第 5 页)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298448"/>
            <a:ext cx="4005072" cy="47548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0" y="1463040"/>
            <a:ext cx="34564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“省下来的钱”长什么样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20208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9E8C"/>
                </a:solidFill>
                <a:latin typeface="Microsoft YaHei"/>
                <a:ea typeface="Microsoft YaHei"/>
              </a:rPr>
              <a:t>−95.8%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6448" y="2834639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可训参数: 2.81M → 0.117M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33924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E8B63"/>
                </a:solidFill>
                <a:latin typeface="Microsoft YaHei"/>
                <a:ea typeface="Microsoft YaHei"/>
              </a:rPr>
              <a:t>−1.2 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420624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峰值显存: 5.3G → 4.2G (A800)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4764024"/>
            <a:ext cx="305409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6E7B87"/>
                </a:solidFill>
                <a:latin typeface="Microsoft YaHei"/>
                <a:ea typeface="Microsoft YaHei"/>
              </a:rPr>
              <a:t>≈ 持平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5577840"/>
            <a:ext cx="305409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时长/单元(数据管线为瓶颈)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stage4_analysis/README.md 表 1-3 + comparison_tables.md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03 · 发现①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性价比成立: 参数降 95.8%、显存省 1.2G, 精度代价在十分位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NEU-DET · mAP50(best, 稳健口径, n=3)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566160"/>
            <a:ext cx="5029200" cy="11887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9565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469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73736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46988" y="2007616"/>
            <a:ext cx="771144" cy="155854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6988" y="2035047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0.767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23387" y="2155952"/>
            <a:ext cx="771144" cy="141020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3387" y="2183384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0.694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9788" y="2155952"/>
            <a:ext cx="771144" cy="141020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99788" y="2183384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0.694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45280" y="387705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frozen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5029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DeepPCB · mAP50(best, 3 seed)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870448"/>
            <a:ext cx="5029200" cy="11887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5437632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5004816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5029200" cy="5486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6988" y="4703025"/>
            <a:ext cx="771144" cy="1167422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6988" y="4730457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0.989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4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full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23387" y="4830509"/>
            <a:ext cx="771144" cy="103993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3387" y="4857941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0.881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9788" y="4962714"/>
            <a:ext cx="771144" cy="907733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99788" y="4990146"/>
            <a:ext cx="7711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</a:rPr>
              <a:t>0.769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5280" y="6181344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>frozen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1371600"/>
            <a:ext cx="5715000" cy="48463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1572768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读法(逐项检验)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011680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① 参数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adapter 只占 4.15%(116,736/2.81M), 为最低约束档; 精度反而高于同预算的冻结(NEU 稳健口径持平, PCB 高 0.11)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52928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② 精度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NEU 差 −0.07; PCB 差 −0.11 —— 都在 0.1 以内, 且 PCB 全量已趋饱和(0.989), 压差空间本就小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694176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8B63"/>
                </a:solidFill>
                <a:latin typeface="Microsoft YaHei"/>
                <a:ea typeface="Microsoft YaHei"/>
              </a:rPr>
              <a:t>③ 显存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峰值 −1.2G(4.2G vs 5.3G), 主要省在冻结 Backbone 梯度; 边缘部署若以显存为约束则红利直接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535424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98A2B"/>
                </a:solidFill>
                <a:latin typeface="Microsoft YaHei"/>
                <a:ea typeface="Microsoft YaHei"/>
              </a:rPr>
              <a:t>④ 时长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约持平: 瓶颈是数据管线而非反传, 小模型红利未兑现 —— 报告如实记录, 不把“快”当卖点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376672"/>
            <a:ext cx="5212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54B3F"/>
                </a:solidFill>
                <a:latin typeface="Microsoft YaHei"/>
                <a:ea typeface="Microsoft YaHei"/>
              </a:rPr>
              <a:t>⑤ 代价   </a:t>
            </a:r>
          </a:p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代价不是参数而是稳定性(seed 偶发), 见下一页 —— 这是取舍的真正位置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stage3_matrix/runs/*/summary.json + stage4/README.md 表 2(配对差)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04 · 发现②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稳定性是隐藏的第三维度: 全量全稳, vpeft/frozen 各有 1/4 seed 收敛异常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6035040" cy="39319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1732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NEU-DET 逐 seed 分布(best mAP50, 越靠右越好)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4B63"/>
                </a:solidFill>
                <a:latin typeface="Microsoft YaHei"/>
                <a:ea typeface="Microsoft YaHei"/>
              </a:rPr>
              <a:t>full_sft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76544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15940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56199" y="1915667"/>
            <a:ext cx="100584" cy="100584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96596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9E8C"/>
                </a:solidFill>
                <a:latin typeface="Microsoft YaHei"/>
                <a:ea typeface="Microsoft YaHei"/>
              </a:rPr>
              <a:t>vpeft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72862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69817" y="2802636"/>
            <a:ext cx="100584" cy="100584"/>
          </a:xfrm>
          <a:prstGeom prst="rect">
            <a:avLst/>
          </a:prstGeom>
          <a:solidFill>
            <a:srgbClr val="D5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6674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38877" y="2802636"/>
            <a:ext cx="100584" cy="100584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85292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3989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</a:rPr>
              <a:t>frozen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2992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78252" y="3689604"/>
            <a:ext cx="100584" cy="100584"/>
          </a:xfrm>
          <a:prstGeom prst="rect">
            <a:avLst/>
          </a:prstGeom>
          <a:solidFill>
            <a:srgbClr val="D54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13553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11825" y="3689604"/>
            <a:ext cx="100584" cy="100584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739896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E7B8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4389119"/>
            <a:ext cx="4480560" cy="10972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443983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44398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44398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D54B3F"/>
                </a:solidFill>
                <a:latin typeface="Microsoft YaHei"/>
                <a:ea typeface="Microsoft YaHei"/>
              </a:rPr>
              <a:t>● 红 = 收敛异常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358384"/>
            <a:ext cx="56692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全口径 sd: </a:t>
            </a:r>
            <a:r>
              <a:rPr sz="1200" b="0" i="0">
                <a:solidFill>
                  <a:srgbClr val="14222E"/>
                </a:solidFill>
                <a:latin typeface="Microsoft YaHei"/>
                <a:ea typeface="Microsoft YaHei"/>
              </a:rPr>
              <a:t>full 0.014  |  vpeft 0.167  |  frozen 0.245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剔除 1 个偶发 seed 后: vpeft/frozen sd ≈ 0.04-0.05 —— 异常是“全有或全无”式的坏 seed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1280160"/>
            <a:ext cx="4937760" cy="4846320"/>
          </a:xfrm>
          <a:prstGeom prst="roundRect">
            <a:avLst>
              <a:gd name="adj" fmla="val 6000"/>
            </a:avLst>
          </a:prstGeom>
          <a:noFill/>
          <a:ln w="1524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14447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验证实验(3 个补充单元, 全 exit 0)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022592" y="1828800"/>
          <a:ext cx="44348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417320"/>
                <a:gridCol w="1325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补充单元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结果(best)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判定</a:t>
                      </a:r>
                    </a:p>
                  </a:txBody>
                  <a:tcPr marL="45720" marR="45720" marT="9144" marB="9144" anchor="ctr">
                    <a:solidFill>
                      <a:srgbClr val="1422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neu_vpeft_s2025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0.644  正常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s2024 停滞 = seed 偶发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neu_frozen_s2025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0.739  正常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s2024 卡死 = seed 偶发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pcb_frozen_s824b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0.639@ep9 = s824 重跑逐一致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震荡 = 确定性动力学</a:t>
                      </a:r>
                    </a:p>
                  </a:txBody>
                  <a:tcPr marL="45720" marR="45720" marT="9144" marB="9144" anchor="ctr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7022592" y="3977639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D54B3F"/>
                </a:solidFill>
                <a:latin typeface="Microsoft YaHei"/>
                <a:ea typeface="Microsoft YaHei"/>
              </a:rPr>
              <a:t>一句话: </a:t>
            </a:r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参数高效/冻结法的“坏 seed”是真实风险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NEU 偶发率 ~1/4(各 1 例), 已由新 seed 验证为 seed 特异而非系统性失效;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PCB frozen@seed824 的震荡(高点落在 ep9)同 seed 重跑逐一致 → 是该 (seed, 冻结配置) 的训练动力学事实, 非采样噪声。</a:t>
            </a:r>
          </a:p>
          <a:p>
            <a:pPr algn="l"/>
            <a:r>
              <a:rPr sz="1100" b="1" i="0">
                <a:solidFill>
                  <a:srgbClr val="D54B3F"/>
                </a:solidFill>
                <a:latin typeface="Microsoft YaHei"/>
                <a:ea typeface="Microsoft YaHei"/>
              </a:rPr>
              <a:t>→ 单 seed 结论在参数高效法上不可信; 稳定性本身应作为报告维度。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stage3_matrix/README(补充单元表) + runs/*/train/*/results.csv 曲线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05 · 发现③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Planner 可审计: 6/6 ACCEPT、决策跨 seed/数据稳定、护栏与缺陷如实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572000" cy="4846320"/>
          </a:xfrm>
          <a:prstGeom prst="roundRect">
            <a:avLst>
              <a:gd name="adj" fmla="val 6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FC2D2"/>
                </a:solidFill>
                <a:latin typeface="Microsoft YaHei"/>
                <a:ea typeface="Microsoft YaHei"/>
              </a:rPr>
              <a:t>PLACEMENT · 6 个 vpeft 单元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75104"/>
            <a:ext cx="362102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149E8C"/>
                </a:solidFill>
                <a:latin typeface="Microsoft YaHei"/>
                <a:ea typeface="Microsoft YaHei"/>
              </a:rPr>
              <a:t>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88920"/>
            <a:ext cx="36210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4222E"/>
                </a:solidFill>
                <a:latin typeface="Microsoft YaHei"/>
                <a:ea typeface="Microsoft YaHei"/>
              </a:rPr>
              <a:t>ACCEPT(无 ADAPT/REFUSE)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145536"/>
            <a:ext cx="362102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6E7B87"/>
                </a:solidFill>
                <a:latin typeface="Microsoft YaHei"/>
                <a:ea typeface="Microsoft YaHei"/>
              </a:rPr>
              <a:t>planner 每次给出可用放置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5643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AFC2D2"/>
                </a:solidFill>
                <a:latin typeface="Microsoft YaHei"/>
                <a:ea typeface="Microsoft YaHei"/>
              </a:rPr>
              <a:t>每单元一致决策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85615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89534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81 targets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261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非头层放置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3785615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389534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rank = 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4261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base rank 不升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9145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9011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adapter 116,736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26694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4.15% 全参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97480" y="4791456"/>
            <a:ext cx="1783080" cy="9144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6352" y="4901184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  <a:ea typeface="Microsoft YaHei"/>
              </a:rPr>
              <a:t>465,250 有效可训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526694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AFC2D2"/>
                </a:solidFill>
                <a:latin typeface="Microsoft YaHei"/>
                <a:ea typeface="Microsoft YaHei"/>
              </a:rPr>
              <a:t>含 mismatch 解冻 head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94960" y="1280160"/>
            <a:ext cx="6309360" cy="484632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148132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E4B63"/>
                </a:solidFill>
                <a:latin typeface="Microsoft YaHei"/>
                <a:ea typeface="Microsoft YaHei"/>
              </a:rPr>
              <a:t>审计点 / 护栏(逐项可复核)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193852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4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4B63"/>
                </a:solidFill>
                <a:latin typeface="Microsoft YaHei"/>
                <a:ea typeface="Microsoft YaHei"/>
              </a:rPr>
              <a:t>ACCEPT 的语义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状态与 predicted Δ 进入 audit; vpeft 接受后 legacy planner 显式跳过(ao/dco/mip 被接管)——日志 [V-PEFT] selected … ranks= 行可 grep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76148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14222E"/>
                </a:solidFill>
                <a:latin typeface="Microsoft YaHei"/>
                <a:ea typeface="Microsoft YaHei"/>
              </a:rPr>
              <a:t>类别 mismatch(80→6)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检测头重初始化并解冻 → vpeft 有效可训 465,250(16.5%), 报告不混同 adapter 口径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358444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8B63"/>
                </a:solidFill>
                <a:latin typeface="Microsoft YaHei"/>
                <a:ea typeface="Microsoft YaHei"/>
              </a:rPr>
              <a:t>strict=True 不降级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任何异常直接 raise(失败即报错), 证据链干净; 未静默 fallback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40740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8B63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2E8B63"/>
                </a:solidFill>
                <a:latin typeface="Microsoft YaHei"/>
                <a:ea typeface="Microsoft YaHei"/>
              </a:rPr>
              <a:t>缺陷已修 cap&lt;8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0.conv/routing_network.2/dfl.conv 容量 &lt; 最小候选 rank(4): 原先求解器放行 → plan 校验抛错 → V-PEFT 静默降级 legacy; 修复分支已推 fork 并另开上游 PR(C_cap 硬约束 + capacity_excluded 审计), 本报告数据仍是 exclude 规避口径未重跑 → 链接见末页①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230368"/>
            <a:ext cx="5760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E7B87"/>
                </a:solidFill>
                <a:latin typeface="Microsoft YaHei"/>
                <a:ea typeface="Microsoft YaHei"/>
              </a:rPr>
              <a:t>▪ </a:t>
            </a:r>
            <a:r>
              <a:rPr sz="1200" b="1" i="0">
                <a:solidFill>
                  <a:srgbClr val="6E7B87"/>
                </a:solidFill>
                <a:latin typeface="Microsoft YaHei"/>
                <a:ea typeface="Microsoft YaHei"/>
              </a:rPr>
              <a:t>LOVO / ΔmAP 口径  </a:t>
            </a:r>
          </a:p>
          <a:p>
            <a:pPr algn="l"/>
            <a:r>
              <a:rPr sz="1050" b="0" i="0">
                <a:solidFill>
                  <a:srgbClr val="14222E"/>
                </a:solidFill>
                <a:latin typeface="Microsoft YaHei"/>
                <a:ea typeface="Microsoft YaHei"/>
              </a:rPr>
              <a:t>回归护栏系数与 REFUSE 阈值(−0.05)在源码; 实测 Δ 与 predicted_delta 对应关系记入 stage4/p2 笔记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stage3 runs 日志 + stage4/planner_audit_summary.md + stage2/planner_solver_notes.md §3/§5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8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06 · 怎么选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按约束选策略: 显存/部署受限→vpeft; 要最高最稳精度→full; 冻结不划算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3611880" cy="82296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A · 显存 / 边缘受限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149E8C"/>
                </a:solidFill>
                <a:latin typeface="Microsoft YaHei"/>
                <a:ea typeface="Microsoft YaHei"/>
              </a:rPr>
              <a:t>选 vpeft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4.15% 参数 + 4.2G 峰值显存即达 full 九成以上精度(Δ ≤ 0.11); planner 零调参自动放置。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避免: 精度敏感且无力复跑 seed 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11880" cy="82296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B · 算力充足 · 要最稳精度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2E4B63"/>
                </a:solidFill>
                <a:latin typeface="Microsoft YaHei"/>
                <a:ea typeface="Microsoft YaHei"/>
              </a:rPr>
              <a:t>选 full_sft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NEU/PCB 均最优且三 seed 零异常(sd ≤ 0.014); 免去坏 seed 排查成本。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代价: 显存多 1.2G, 参数 2.81M 全反传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371600"/>
            <a:ext cx="3611880" cy="4297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2440" y="1371600"/>
            <a:ext cx="3611880" cy="82296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157276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场景 C · 少调参的“冻结”方案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1847088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D98A2B"/>
                </a:solidFill>
                <a:latin typeface="Microsoft YaHei"/>
                <a:ea typeface="Microsoft YaHei"/>
              </a:rPr>
              <a:t>不太推荐 frozen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2395728"/>
            <a:ext cx="313639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222E"/>
                </a:solidFill>
                <a:latin typeface="Microsoft YaHei"/>
                <a:ea typeface="Microsoft YaHei"/>
              </a:rPr>
              <a:t>理由</a:t>
            </a:r>
          </a:p>
          <a:p>
            <a:pPr algn="l"/>
            <a:r>
              <a:rPr sz="1100" b="0" i="0">
                <a:solidFill>
                  <a:srgbClr val="6E7B87"/>
                </a:solidFill>
                <a:latin typeface="Microsoft YaHei"/>
                <a:ea typeface="Microsoft YaHei"/>
              </a:rPr>
              <a:t>可训参数只省 32%(67.8% 仍在训)却引入 seed 偶发与确定性震荡(PCB@824)。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4480560"/>
            <a:ext cx="313639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54B3F"/>
                </a:solidFill>
                <a:latin typeface="Microsoft YaHei"/>
                <a:ea typeface="Microsoft YaHei"/>
              </a:rPr>
              <a:t>注意</a:t>
            </a:r>
          </a:p>
          <a:p>
            <a:pPr algn="l"/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除非工具链强制冻结接口, 否则无性价比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9788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4222E"/>
                </a:solidFill>
                <a:latin typeface="Microsoft YaHei"/>
                <a:ea typeface="Microsoft YaHei"/>
              </a:rPr>
              <a:t>判定依据: </a:t>
            </a:r>
            <a:r>
              <a:rPr sz="1050" b="0" i="0">
                <a:solidFill>
                  <a:srgbClr val="6E7B87"/>
                </a:solidFill>
                <a:latin typeface="Microsoft YaHei"/>
                <a:ea typeface="Microsoft YaHei"/>
              </a:rPr>
              <a:t>stage4/README.md 表 1-2(mean/sd/配对差) · 表 3(参数/显存/时长) · 稳健口径定义见同文件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stage4_analysis/README.md(结论判读节)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07 · 证据链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每条结论都给了评审一条可查证的路径(文件/git/复现包)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7040880" cy="3456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2834640"/>
                <a:gridCol w="2286000"/>
              </a:tblGrid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结论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证据文件(均已入库)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marL="64008" marR="54864" marT="10972" marB="10972" anchor="ctr">
                    <a:solidFill>
                      <a:srgbClr val="14222E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精度与稳定性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stage3_matrix/evidence_summary.csv · runs/*/results.csv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21 单元 best-mAP50 + 逐 epoch 曲线 + 显存峰值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统计(mean/sd/CI/配对差)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stage4_analysis/comparison_tables.md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3-seed 统计 + 稳健口径 + 四维表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Planner 审计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stage4_analysis/planner_audit_summary.md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ACCEPT 分布 / 护栏 / ΔmAP 口径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许可 / SHA / 环境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stage1_env_data/README.md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NEU-DET/DeepPCB 来源与哈希留档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复现一键组装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stage5_pr_delivery/reproduction/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命令样例 · paths.env · 数据转换脚本 · 统计表</a:t>
                      </a:r>
                    </a:p>
                  </a:txBody>
                  <a:tcPr marL="64008" marR="54864" marT="10972" marB="10972" anchor="ctr">
                    <a:solidFill>
                      <a:srgbClr val="F2F6F8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缺陷修复(PR)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分支 fix/vpeft-capacity-guard + 独立 PR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4222E"/>
                          </a:solidFill>
                          <a:latin typeface="Microsoft YaHei"/>
                          <a:ea typeface="Microsoft YaHei"/>
                        </a:rPr>
                        <a:t>C_cap 容量硬约束 + capacity_excluded 审计 + 未适配层冻结(2 commit · 链接见末页①)</a:t>
                      </a:r>
                    </a:p>
                  </a:txBody>
                  <a:tcPr marL="64008" marR="54864" marT="10972" marB="1097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325880"/>
            <a:ext cx="3886200" cy="2194560"/>
          </a:xfrm>
          <a:prstGeom prst="roundRect">
            <a:avLst>
              <a:gd name="adj" fmla="val 6000"/>
            </a:avLst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5087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AFC2D2"/>
                </a:solidFill>
                <a:latin typeface="Microsoft YaHei"/>
                <a:ea typeface="Microsoft YaHei"/>
              </a:rPr>
              <a:t>GIT · 8 本地 commit(逐 PR 四节)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8288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stage1 env+data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579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stage2 server smoke (BF-01 修复)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871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stage3 matrix + 21 单元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81635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stage4 stats +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1455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</a:rPr>
              <a:t>stage5 复现包 + 报告 + PPT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3703320"/>
            <a:ext cx="3886200" cy="242316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38862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E4B63"/>
                </a:solidFill>
                <a:latin typeface="Microsoft YaHei"/>
                <a:ea typeface="Microsoft YaHei"/>
              </a:rPr>
              <a:t>一键复现路径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python stage5/assemble_reproduction.py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6634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→ reproduction/(命令/脚本/env/统计)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1206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三策略命令样例 → 修改 seed/device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577840"/>
            <a:ext cx="3566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4222E"/>
                </a:solidFill>
                <a:latin typeface="Microsoft YaHei"/>
                <a:ea typeface="Microsoft YaHei"/>
              </a:rPr>
              <a:t>补充单元: run_supplement.py 自愈调度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git ls-files scripts/c3_vpeft/ 全量证据 + stage5_pr_delivery/reproduction/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20624"/>
            <a:ext cx="1133856" cy="329184"/>
          </a:xfrm>
          <a:prstGeom prst="roundRect">
            <a:avLst>
              <a:gd name="adj" fmla="val 6000"/>
            </a:avLst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448056"/>
            <a:ext cx="11338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08 ·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0784" y="329184"/>
            <a:ext cx="10149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 i="0">
                <a:solidFill>
                  <a:srgbClr val="14222E"/>
                </a:solidFill>
                <a:latin typeface="Microsoft YaHei"/>
                <a:ea typeface="Microsoft YaHei"/>
              </a:rPr>
              <a:t>边界声明: 这些数字为什么不能外推太远(评审先看这里)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453896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样本量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453896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n = 3-4 seed, CI 宽(±0.23~0.34 全口径); 偶发率 ~1/4 仅作警示, 不推总概率。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157276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04288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304288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38658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模型规模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386584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EsMoE-N 全参仅 2.8M: LoRA 相对全量的参数优势被小基数压缩; 结论不必然迁移到更大模型。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2505456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36976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236976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192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数据域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319272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两数据集(工业表面/PCB 缺陷), 分辨率与类别数有限; NEU-DET 镜像无显式 LICENSE(SHA-256 留档)。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343814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69664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69664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5196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预算形态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251960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同 epochs 预算下时长持平(数据管线瓶颈); 若改为“同 wall-clock”预算, 结论排序可能变化, 未测。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43708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02352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02352"/>
            <a:ext cx="82296" cy="868680"/>
          </a:xfrm>
          <a:prstGeom prst="rect">
            <a:avLst/>
          </a:prstGeom>
          <a:solidFill>
            <a:srgbClr val="6E7B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5184648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4222E"/>
                </a:solidFill>
                <a:latin typeface="Microsoft YaHei"/>
                <a:ea typeface="Microsoft YaHei"/>
              </a:rPr>
              <a:t>策略实现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5184648"/>
            <a:ext cx="90525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14222E"/>
                </a:solidFill>
                <a:latin typeface="Microsoft YaHei"/>
                <a:ea typeface="Microsoft YaHei"/>
              </a:rPr>
              <a:t>vpeft=当前 planner(rank 8/ao solver); frozen=freeze=11 单档, 未扫冻结深度。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53035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6E7B87"/>
                </a:solidFill>
                <a:latin typeface="Microsoft YaHei"/>
                <a:ea typeface="Microsoft YaHei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89904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D98A2B"/>
                </a:solidFill>
                <a:latin typeface="Microsoft YaHei"/>
                <a:ea typeface="Microsoft YaHei"/>
              </a:rPr>
              <a:t>凡涉及外推(其他数据/更大模型/其他预算定义)均须重测; 本包已备好重测工具链。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37376"/>
            <a:ext cx="11201400" cy="10972"/>
          </a:xfrm>
          <a:prstGeom prst="rect">
            <a:avLst/>
          </a:prstGeom>
          <a:solidFill>
            <a:srgbClr val="DC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E7B87"/>
                </a:solidFill>
                <a:latin typeface="Microsoft YaHei"/>
                <a:ea typeface="Microsoft YaHei"/>
              </a:rPr>
              <a:t>证据: stage5/report_final.md §4 局限 与 stage4/README 口径红线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6E7B87"/>
                </a:solidFill>
                <a:latin typeface="Microsoft YaHei"/>
                <a:ea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8FA3B5"/>
                </a:solidFill>
                <a:latin typeface="Microsoft YaHei"/>
                <a:ea typeface="Microsoft YaHei"/>
              </a:rPr>
              <a:t>一句话带走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10642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V-PEFT 在 2.8M 小模型上的答案: </a:t>
            </a:r>
          </a:p>
          <a:p>
            <a:pPr algn="l"/>
            <a:r>
              <a:rPr sz="2400" b="1" i="0">
                <a:solidFill>
                  <a:srgbClr val="149E8C"/>
                </a:solidFill>
                <a:latin typeface="Microsoft YaHei"/>
                <a:ea typeface="Microsoft YaHei"/>
              </a:rPr>
              <a:t>“低参数 / 低显存拿九成精度 —— 代价写进了 seed 分布里”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12140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FC2D2"/>
                </a:solidFill>
                <a:latin typeface="Microsoft YaHei"/>
                <a:ea typeface="Microsoft YaHei"/>
              </a:rPr>
              <a:t>三策略一句话结论(完整对照见 stage4)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3566160" cy="64008"/>
          </a:xfrm>
          <a:prstGeom prst="rect">
            <a:avLst/>
          </a:prstGeom>
          <a:solidFill>
            <a:srgbClr val="2E4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full_sft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2E4B63"/>
                </a:solidFill>
                <a:latin typeface="Microsoft YaHei"/>
                <a:ea typeface="Microsoft YaHei"/>
              </a:rPr>
              <a:t>0.767 / 0.989  |  sd ≤ 0.014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最高且最稳的基线; 要精度就选它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606040"/>
            <a:ext cx="3566160" cy="64008"/>
          </a:xfrm>
          <a:prstGeom prst="rect">
            <a:avLst/>
          </a:prstGeom>
          <a:solidFill>
            <a:srgbClr val="149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vpeft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0.694* / 0.881  |  4.15% 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省 95.8% 参数+1.2G 显存, 接受偶发风险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6060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606040"/>
            <a:ext cx="3566160" cy="64008"/>
          </a:xfrm>
          <a:prstGeom prst="rect">
            <a:avLst/>
          </a:prstGeom>
          <a:solidFill>
            <a:srgbClr val="D9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</a:rPr>
              <a:t>frozen_backbone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D98A2B"/>
                </a:solidFill>
                <a:latin typeface="Microsoft YaHei"/>
                <a:ea typeface="Microsoft YaHei"/>
              </a:rPr>
              <a:t>0.694* / 0.769  |  67.8% 可训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11880"/>
            <a:ext cx="3154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省得少还添乱, 不推荐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90288"/>
            <a:ext cx="6309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AFC2D2"/>
                </a:solidFill>
                <a:latin typeface="Microsoft YaHei"/>
                <a:ea typeface="Microsoft YaHei"/>
              </a:rPr>
              <a:t>交付状态 / 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937760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① 修复分支已 push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fix/vpeft-capacity-guard(2 commit); 独立 PR 待发起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76672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② 证据包已 push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fork lycyhrc/YOLO-Master:c3-vpeft-smoke(本地 commit 全部同步)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15584"/>
            <a:ext cx="64008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149E8C"/>
                </a:solidFill>
                <a:latin typeface="Microsoft YaHei"/>
                <a:ea typeface="Microsoft YaHei"/>
              </a:rPr>
              <a:t>▸ </a:t>
            </a: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</a:rPr>
              <a:t>③ 可选扩展  </a:t>
            </a:r>
            <a:r>
              <a:rPr sz="1050" b="0" i="0">
                <a:solidFill>
                  <a:srgbClr val="AFC2D2"/>
                </a:solidFill>
                <a:latin typeface="Microsoft YaHei"/>
                <a:ea typeface="Microsoft YaHei"/>
              </a:rPr>
              <a:t>k=5/10/50/100 档位曲线(数据就绪), GPU 低峰补跑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4480560"/>
            <a:ext cx="4279392" cy="1737360"/>
          </a:xfrm>
          <a:prstGeom prst="roundRect">
            <a:avLst>
              <a:gd name="adj" fmla="val 6000"/>
            </a:avLst>
          </a:prstGeom>
          <a:solidFill>
            <a:srgbClr val="1B2A39"/>
          </a:solidFill>
          <a:ln w="15875">
            <a:solidFill>
              <a:srgbClr val="D9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590288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D98A2B"/>
                </a:solidFill>
                <a:latin typeface="Microsoft YaHei"/>
                <a:ea typeface="Microsoft YaHei"/>
              </a:rPr>
              <a:t>交付链接（② 待填 · 上传后替换）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4919472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① 上游修复 PR  </a:t>
            </a:r>
            <a:r>
              <a:rPr sz="950" b="1" i="0">
                <a:solidFill>
                  <a:srgbClr val="149E8C"/>
                </a:solidFill>
                <a:latin typeface="Microsoft YaHei"/>
                <a:ea typeface="Microsoft YaHei"/>
              </a:rPr>
              <a:t>独立发起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60" y="524865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49E8C"/>
                </a:solidFill>
                <a:latin typeface="Microsoft YaHei"/>
                <a:ea typeface="Microsoft YaHei"/>
              </a:rPr>
              <a:t>Tencent/YOLO-Master/pull/279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5705856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Microsoft YaHei"/>
                <a:ea typeface="Microsoft YaHei"/>
              </a:rPr>
              <a:t>② 证据附件  </a:t>
            </a:r>
            <a:r>
              <a:rPr sz="950" b="1" i="0">
                <a:solidFill>
                  <a:srgbClr val="149E8C"/>
                </a:solidFill>
                <a:latin typeface="Microsoft YaHei"/>
                <a:ea typeface="Microsoft YaHei"/>
              </a:rPr>
              <a:t>&lt;&lt;EVIDENCE_LINK_PLACEHOLDER&gt;&gt;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3276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3B5"/>
                </a:solidFill>
                <a:latin typeface="Microsoft YaHei"/>
                <a:ea typeface="Microsoft YaHei"/>
              </a:rPr>
              <a:t>数字来源: stage3_matrix/runs(21 单元) · stage4_analysis(2026-09-07 定稿) · stage5 交付 2026-09-11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